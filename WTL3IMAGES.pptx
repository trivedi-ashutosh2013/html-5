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1"/>
  </p:sldMasterIdLst>
  <p:notesMasterIdLst>
    <p:notesMasterId r:id="rId21"/>
  </p:notesMasterIdLst>
  <p:handoutMasterIdLst>
    <p:handoutMasterId r:id="rId22"/>
  </p:handoutMasterIdLst>
  <p:sldIdLst>
    <p:sldId id="270" r:id="rId2"/>
    <p:sldId id="274" r:id="rId3"/>
    <p:sldId id="256" r:id="rId4"/>
    <p:sldId id="262" r:id="rId5"/>
    <p:sldId id="257" r:id="rId6"/>
    <p:sldId id="263" r:id="rId7"/>
    <p:sldId id="258" r:id="rId8"/>
    <p:sldId id="271" r:id="rId9"/>
    <p:sldId id="264" r:id="rId10"/>
    <p:sldId id="259" r:id="rId11"/>
    <p:sldId id="273" r:id="rId12"/>
    <p:sldId id="260" r:id="rId13"/>
    <p:sldId id="272" r:id="rId14"/>
    <p:sldId id="265" r:id="rId15"/>
    <p:sldId id="266" r:id="rId16"/>
    <p:sldId id="267" r:id="rId17"/>
    <p:sldId id="261" r:id="rId18"/>
    <p:sldId id="268" r:id="rId19"/>
    <p:sldId id="269" r:id="rId20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F2E"/>
    <a:srgbClr val="FFFFFF"/>
    <a:srgbClr val="EBFFD2"/>
    <a:srgbClr val="A4F6F0"/>
    <a:srgbClr val="E8FFC8"/>
    <a:srgbClr val="FAF7C8"/>
    <a:srgbClr val="FAF8C8"/>
    <a:srgbClr val="F5FFC2"/>
    <a:srgbClr val="EBFFDC"/>
    <a:srgbClr val="FAF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 autoAdjust="0"/>
  </p:normalViewPr>
  <p:slideViewPr>
    <p:cSldViewPr>
      <p:cViewPr>
        <p:scale>
          <a:sx n="77" d="100"/>
          <a:sy n="77" d="100"/>
        </p:scale>
        <p:origin x="-106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98" y="-84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7/4/2015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30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7/4/2015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03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lerik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6388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0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828800"/>
            <a:ext cx="81534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Source code box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4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5000" endPos="49000" dist="50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5224046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757446"/>
            <a:ext cx="209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Telerik Corporation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062246"/>
            <a:ext cx="1707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www.telerik.com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/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10668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282575" indent="-282575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buNone/>
              <a:tabLst>
                <a:tab pos="282575" algn="l"/>
              </a:tabLst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Example description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2900" y="1828800"/>
            <a:ext cx="8382000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18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Source code box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914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/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2438400"/>
            <a:ext cx="6400800" cy="2097345"/>
          </a:xfrm>
          <a:prstGeom prst="rect">
            <a:avLst/>
          </a:prstGeom>
        </p:spPr>
        <p:txBody>
          <a:bodyPr anchor="ctr" anchorCtr="0"/>
          <a:lstStyle/>
          <a:p>
            <a:pPr marL="319088" marR="0" lvl="0" indent="-319088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lang="en-US" sz="8000" b="1" kern="1200" dirty="0" smtClean="0">
                <a:solidFill>
                  <a:srgbClr val="E8FF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Document 6"/>
          <p:cNvSpPr/>
          <p:nvPr/>
        </p:nvSpPr>
        <p:spPr>
          <a:xfrm rot="10800000">
            <a:off x="1" y="411366"/>
            <a:ext cx="9144000" cy="5562705"/>
          </a:xfrm>
          <a:custGeom>
            <a:avLst/>
            <a:gdLst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25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10056" y="24231"/>
                  <a:pt x="0" y="2025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85000"/>
                  <a:lumOff val="1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Flowchart: Document 7"/>
          <p:cNvSpPr/>
          <p:nvPr/>
        </p:nvSpPr>
        <p:spPr>
          <a:xfrm rot="10800000">
            <a:off x="1" y="609600"/>
            <a:ext cx="9144000" cy="4480425"/>
          </a:xfrm>
          <a:custGeom>
            <a:avLst/>
            <a:gdLst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03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8684" y="24776"/>
                  <a:pt x="0" y="2003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65000"/>
                  <a:lumOff val="3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34" name="Picture 10" descr="telerik_logo_new-(white).png"/>
          <p:cNvPicPr>
            <a:picLocks noChangeAspect="1"/>
          </p:cNvPicPr>
          <p:nvPr/>
        </p:nvPicPr>
        <p:blipFill>
          <a:blip r:embed="rId11" cstate="print"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600200" cy="38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lowchart: Document 6"/>
          <p:cNvSpPr/>
          <p:nvPr userDrawn="1"/>
        </p:nvSpPr>
        <p:spPr>
          <a:xfrm rot="10800000">
            <a:off x="1" y="411366"/>
            <a:ext cx="9144000" cy="5562705"/>
          </a:xfrm>
          <a:custGeom>
            <a:avLst/>
            <a:gdLst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378"/>
              <a:gd name="connsiteX1" fmla="*/ 21600 w 21600"/>
              <a:gd name="connsiteY1" fmla="*/ 0 h 19378"/>
              <a:gd name="connsiteX2" fmla="*/ 21600 w 21600"/>
              <a:gd name="connsiteY2" fmla="*/ 17322 h 19378"/>
              <a:gd name="connsiteX3" fmla="*/ 0 w 21600"/>
              <a:gd name="connsiteY3" fmla="*/ 19378 h 19378"/>
              <a:gd name="connsiteX4" fmla="*/ 0 w 21600"/>
              <a:gd name="connsiteY4" fmla="*/ 0 h 19378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19974"/>
              <a:gd name="connsiteX1" fmla="*/ 21600 w 21600"/>
              <a:gd name="connsiteY1" fmla="*/ 0 h 19974"/>
              <a:gd name="connsiteX2" fmla="*/ 21600 w 21600"/>
              <a:gd name="connsiteY2" fmla="*/ 17322 h 19974"/>
              <a:gd name="connsiteX3" fmla="*/ 0 w 21600"/>
              <a:gd name="connsiteY3" fmla="*/ 19974 h 19974"/>
              <a:gd name="connsiteX4" fmla="*/ 0 w 21600"/>
              <a:gd name="connsiteY4" fmla="*/ 0 h 19974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  <a:gd name="connsiteX0" fmla="*/ 0 w 21600"/>
              <a:gd name="connsiteY0" fmla="*/ 0 h 20252"/>
              <a:gd name="connsiteX1" fmla="*/ 21600 w 21600"/>
              <a:gd name="connsiteY1" fmla="*/ 0 h 20252"/>
              <a:gd name="connsiteX2" fmla="*/ 21600 w 21600"/>
              <a:gd name="connsiteY2" fmla="*/ 17322 h 20252"/>
              <a:gd name="connsiteX3" fmla="*/ 0 w 21600"/>
              <a:gd name="connsiteY3" fmla="*/ 20252 h 20252"/>
              <a:gd name="connsiteX4" fmla="*/ 0 w 21600"/>
              <a:gd name="connsiteY4" fmla="*/ 0 h 2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25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10056" y="24231"/>
                  <a:pt x="0" y="2025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85000"/>
                  <a:lumOff val="1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Flowchart: Document 7"/>
          <p:cNvSpPr/>
          <p:nvPr userDrawn="1"/>
        </p:nvSpPr>
        <p:spPr>
          <a:xfrm rot="10800000">
            <a:off x="1" y="609600"/>
            <a:ext cx="9144000" cy="4480425"/>
          </a:xfrm>
          <a:custGeom>
            <a:avLst/>
            <a:gdLst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8944"/>
              <a:gd name="connsiteX1" fmla="*/ 21600 w 21600"/>
              <a:gd name="connsiteY1" fmla="*/ 0 h 18944"/>
              <a:gd name="connsiteX2" fmla="*/ 21600 w 21600"/>
              <a:gd name="connsiteY2" fmla="*/ 17322 h 18944"/>
              <a:gd name="connsiteX3" fmla="*/ 0 w 21600"/>
              <a:gd name="connsiteY3" fmla="*/ 18944 h 18944"/>
              <a:gd name="connsiteX4" fmla="*/ 0 w 21600"/>
              <a:gd name="connsiteY4" fmla="*/ 0 h 18944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350"/>
              <a:gd name="connsiteX1" fmla="*/ 21600 w 21600"/>
              <a:gd name="connsiteY1" fmla="*/ 0 h 19350"/>
              <a:gd name="connsiteX2" fmla="*/ 21600 w 21600"/>
              <a:gd name="connsiteY2" fmla="*/ 17322 h 19350"/>
              <a:gd name="connsiteX3" fmla="*/ 0 w 21600"/>
              <a:gd name="connsiteY3" fmla="*/ 19350 h 19350"/>
              <a:gd name="connsiteX4" fmla="*/ 0 w 21600"/>
              <a:gd name="connsiteY4" fmla="*/ 0 h 19350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19691"/>
              <a:gd name="connsiteX1" fmla="*/ 21600 w 21600"/>
              <a:gd name="connsiteY1" fmla="*/ 0 h 19691"/>
              <a:gd name="connsiteX2" fmla="*/ 21600 w 21600"/>
              <a:gd name="connsiteY2" fmla="*/ 17322 h 19691"/>
              <a:gd name="connsiteX3" fmla="*/ 0 w 21600"/>
              <a:gd name="connsiteY3" fmla="*/ 19691 h 19691"/>
              <a:gd name="connsiteX4" fmla="*/ 0 w 21600"/>
              <a:gd name="connsiteY4" fmla="*/ 0 h 19691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  <a:gd name="connsiteX0" fmla="*/ 0 w 21600"/>
              <a:gd name="connsiteY0" fmla="*/ 0 h 20032"/>
              <a:gd name="connsiteX1" fmla="*/ 21600 w 21600"/>
              <a:gd name="connsiteY1" fmla="*/ 0 h 20032"/>
              <a:gd name="connsiteX2" fmla="*/ 21600 w 21600"/>
              <a:gd name="connsiteY2" fmla="*/ 17322 h 20032"/>
              <a:gd name="connsiteX3" fmla="*/ 0 w 21600"/>
              <a:gd name="connsiteY3" fmla="*/ 20032 h 20032"/>
              <a:gd name="connsiteX4" fmla="*/ 0 w 21600"/>
              <a:gd name="connsiteY4" fmla="*/ 0 h 20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0032">
                <a:moveTo>
                  <a:pt x="0" y="0"/>
                </a:moveTo>
                <a:lnTo>
                  <a:pt x="21600" y="0"/>
                </a:lnTo>
                <a:lnTo>
                  <a:pt x="21600" y="17322"/>
                </a:lnTo>
                <a:cubicBezTo>
                  <a:pt x="10800" y="17322"/>
                  <a:pt x="8684" y="24776"/>
                  <a:pt x="0" y="2003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bg1">
                  <a:lumMod val="65000"/>
                  <a:lumOff val="35000"/>
                </a:schemeClr>
              </a:gs>
              <a:gs pos="65000">
                <a:schemeClr val="bg2">
                  <a:shade val="100000"/>
                  <a:satMod val="600000"/>
                  <a:alpha val="0"/>
                </a:schemeClr>
              </a:gs>
            </a:gsLst>
            <a:lin ang="4800000" scaled="1"/>
          </a:gradFill>
          <a:ln w="317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10" descr="telerik_logo_new-(white).png"/>
          <p:cNvPicPr>
            <a:picLocks noChangeAspect="1"/>
          </p:cNvPicPr>
          <p:nvPr userDrawn="1"/>
        </p:nvPicPr>
        <p:blipFill>
          <a:blip r:embed="rId11" cstate="screen"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1600200" cy="389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01" r:id="rId7"/>
    <p:sldLayoutId id="2147483703" r:id="rId8"/>
    <p:sldLayoutId id="2147483702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1" fontAlgn="base" hangingPunct="1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1" fontAlgn="base" hangingPunct="1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1" fontAlgn="base" hangingPunct="1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1" fontAlgn="base" hangingPunct="1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view-source:file:///D:/IWT%20Infy%20June/Final%20Code/chapter-05/images/bird.gi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view-source:file:///D:/IWT%20Infy%20June/Final%20Code/chapter-05/images/bird.gi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view-source:file:///D:/IWT%20Infy%20June/Final%20Code/chapter-05/images/bird.gi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HTML/Element/figcaption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ickr.com/photos/rclark/102352241/in/set-72057594082373448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33400" y="2209800"/>
            <a:ext cx="7924800" cy="990600"/>
          </a:xfrm>
        </p:spPr>
        <p:txBody>
          <a:bodyPr/>
          <a:lstStyle/>
          <a:p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09600" y="3469480"/>
            <a:ext cx="7924800" cy="1178720"/>
          </a:xfrm>
        </p:spPr>
        <p:txBody>
          <a:bodyPr/>
          <a:lstStyle/>
          <a:p>
            <a:r>
              <a:rPr lang="en-US" dirty="0" smtClean="0"/>
              <a:t>Working with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327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57200"/>
            <a:ext cx="7924800" cy="6096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28600"/>
            <a:ext cx="87630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76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Adding Images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sz="2200" dirty="0"/>
              <a:t> </a:t>
            </a:r>
            <a:r>
              <a:rPr lang="en-US" sz="2400" b="0" dirty="0"/>
              <a:t>Images are usually added to a site using the &lt;</a:t>
            </a:r>
            <a:r>
              <a:rPr lang="en-US" sz="2400" b="0" dirty="0" err="1"/>
              <a:t>img</a:t>
            </a:r>
            <a:r>
              <a:rPr lang="en-US" sz="2400" b="0" dirty="0"/>
              <a:t>&gt; element. It </a:t>
            </a:r>
            <a:r>
              <a:rPr lang="en-US" sz="2400" b="0" dirty="0" smtClean="0"/>
              <a:t>   must </a:t>
            </a:r>
            <a:r>
              <a:rPr lang="en-US" sz="2400" b="0" dirty="0"/>
              <a:t>also carry </a:t>
            </a:r>
            <a:r>
              <a:rPr lang="en-US" sz="2400" b="0" dirty="0" smtClean="0"/>
              <a:t>---</a:t>
            </a:r>
          </a:p>
          <a:p>
            <a:r>
              <a:rPr lang="en-US" sz="2400" b="0" dirty="0" smtClean="0"/>
              <a:t> </a:t>
            </a:r>
            <a:r>
              <a:rPr lang="en-US" sz="2400" b="0" dirty="0" err="1" smtClean="0"/>
              <a:t>src</a:t>
            </a:r>
            <a:r>
              <a:rPr lang="en-US" sz="2400" b="0" dirty="0" smtClean="0"/>
              <a:t> attribute indicating </a:t>
            </a:r>
            <a:r>
              <a:rPr lang="en-US" sz="2400" b="0" dirty="0"/>
              <a:t>the source of the image </a:t>
            </a:r>
            <a:r>
              <a:rPr lang="en-US" sz="2400" b="0" dirty="0" smtClean="0"/>
              <a:t>and</a:t>
            </a:r>
          </a:p>
          <a:p>
            <a:r>
              <a:rPr lang="en-US" sz="2400" b="0" dirty="0" smtClean="0"/>
              <a:t> </a:t>
            </a:r>
            <a:r>
              <a:rPr lang="en-US" sz="2400" b="0" dirty="0"/>
              <a:t>an alt attribute whose value is an alternate description for </a:t>
            </a:r>
            <a:r>
              <a:rPr lang="en-US" sz="2400" b="0" dirty="0" smtClean="0"/>
              <a:t>the image </a:t>
            </a:r>
            <a:r>
              <a:rPr lang="en-US" sz="2400" b="0" dirty="0"/>
              <a:t>in case it does not load or the user has a visual impairment.</a:t>
            </a:r>
            <a:endParaRPr lang="en-US" sz="2400" b="0" dirty="0" smtClean="0"/>
          </a:p>
          <a:p>
            <a:pPr lvl="1"/>
            <a:r>
              <a:rPr lang="en-US" sz="1600" b="0" dirty="0"/>
              <a:t>&lt;</a:t>
            </a:r>
            <a:r>
              <a:rPr lang="en-US" sz="1600" b="0" dirty="0" err="1"/>
              <a:t>img</a:t>
            </a:r>
            <a:r>
              <a:rPr lang="en-US" sz="1600" b="0" dirty="0"/>
              <a:t> </a:t>
            </a:r>
            <a:r>
              <a:rPr lang="en-US" sz="1600" b="0" dirty="0" err="1"/>
              <a:t>src</a:t>
            </a:r>
            <a:r>
              <a:rPr lang="en-US" sz="1600" b="0" dirty="0"/>
              <a:t>="logo.gif" alt="</a:t>
            </a:r>
            <a:r>
              <a:rPr lang="en-US" sz="1600" b="0" dirty="0" err="1"/>
              <a:t>Wrox</a:t>
            </a:r>
            <a:r>
              <a:rPr lang="en-US" sz="1600" b="0" dirty="0"/>
              <a:t> logo" </a:t>
            </a:r>
            <a:r>
              <a:rPr lang="en-US" sz="1600" b="0" dirty="0" smtClean="0"/>
              <a:t>/&gt;</a:t>
            </a:r>
          </a:p>
          <a:p>
            <a:pPr lvl="1"/>
            <a:r>
              <a:rPr lang="en-US" sz="1800" dirty="0" smtClean="0"/>
              <a:t> If </a:t>
            </a:r>
            <a:r>
              <a:rPr lang="en-US" sz="1800" dirty="0"/>
              <a:t>file is to be accessed over the Web, must start with http://  (if not, will assume local file</a:t>
            </a:r>
            <a:r>
              <a:rPr lang="en-US" sz="1800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83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SzTx/>
              <a:buFont typeface="Wingdings" pitchFamily="-60" charset="2"/>
              <a:buChar char="§"/>
            </a:pPr>
            <a:r>
              <a:rPr lang="en-US" sz="2800" dirty="0"/>
              <a:t>Image Attributes</a:t>
            </a: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 err="1">
                <a:effectLst/>
              </a:rPr>
              <a:t>src</a:t>
            </a:r>
            <a:r>
              <a:rPr lang="en-US" sz="2000" b="0" dirty="0">
                <a:effectLst/>
              </a:rPr>
              <a:t>:  URL or filename for the </a:t>
            </a:r>
            <a:r>
              <a:rPr lang="en-US" sz="2000" b="0" dirty="0" smtClean="0">
                <a:effectLst/>
              </a:rPr>
              <a:t>image.</a:t>
            </a:r>
            <a:r>
              <a:rPr lang="en-US" sz="2000" b="0" dirty="0">
                <a:effectLst/>
              </a:rPr>
              <a:t> The URL can be an absolute URL or a </a:t>
            </a:r>
            <a:r>
              <a:rPr lang="en-US" sz="2000" b="0" dirty="0" smtClean="0">
                <a:effectLst/>
              </a:rPr>
              <a:t>relative URL.</a:t>
            </a:r>
            <a:endParaRPr lang="en-US" sz="2000" b="0" dirty="0">
              <a:effectLst/>
            </a:endParaRP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>
                <a:effectLst/>
              </a:rPr>
              <a:t>width/height:  </a:t>
            </a:r>
            <a:r>
              <a:rPr lang="en-US" sz="2000" b="0" dirty="0" smtClean="0">
                <a:effectLst/>
              </a:rPr>
              <a:t>to  specify size of image.</a:t>
            </a:r>
            <a:endParaRPr lang="en-US" sz="2000" b="0" dirty="0">
              <a:effectLst/>
            </a:endParaRP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>
                <a:effectLst/>
              </a:rPr>
              <a:t>border:  </a:t>
            </a:r>
            <a:r>
              <a:rPr lang="en-US" sz="2000" b="0" dirty="0" smtClean="0">
                <a:effectLst/>
              </a:rPr>
              <a:t>to specify borders around image in pixel.</a:t>
            </a:r>
            <a:endParaRPr lang="en-US" sz="2000" b="0" dirty="0">
              <a:effectLst/>
            </a:endParaRP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>
                <a:effectLst/>
              </a:rPr>
              <a:t>alt:  recommended for users running a text browser</a:t>
            </a:r>
            <a:r>
              <a:rPr lang="en-US" sz="2000" b="0" dirty="0" smtClean="0">
                <a:effectLst/>
              </a:rPr>
              <a:t>.</a:t>
            </a: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 err="1" smtClean="0">
                <a:effectLst/>
              </a:rPr>
              <a:t>hspace</a:t>
            </a:r>
            <a:r>
              <a:rPr lang="en-US" sz="2000" b="0" dirty="0" smtClean="0">
                <a:effectLst/>
              </a:rPr>
              <a:t>/</a:t>
            </a:r>
            <a:r>
              <a:rPr lang="en-US" sz="2000" b="0" dirty="0" err="1" smtClean="0">
                <a:effectLst/>
              </a:rPr>
              <a:t>vspace</a:t>
            </a:r>
            <a:r>
              <a:rPr lang="en-US" sz="2000" b="0" dirty="0" smtClean="0">
                <a:effectLst/>
              </a:rPr>
              <a:t>: recommended for adding white spaces around image.</a:t>
            </a: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 smtClean="0">
                <a:effectLst/>
              </a:rPr>
              <a:t>Align : for horizontal &amp; vertical aligning of image with text</a:t>
            </a: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 err="1" smtClean="0">
                <a:effectLst/>
              </a:rPr>
              <a:t>Ismap</a:t>
            </a:r>
            <a:r>
              <a:rPr lang="en-US" sz="2000" b="0" dirty="0" smtClean="0">
                <a:effectLst/>
              </a:rPr>
              <a:t>/</a:t>
            </a:r>
            <a:r>
              <a:rPr lang="en-US" sz="2000" b="0" dirty="0" err="1" smtClean="0">
                <a:effectLst/>
              </a:rPr>
              <a:t>usemap</a:t>
            </a:r>
            <a:endParaRPr lang="en-US" sz="2000" b="0" dirty="0" smtClean="0">
              <a:effectLst/>
            </a:endParaRP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r>
              <a:rPr lang="en-US" sz="2000" b="0" dirty="0" smtClean="0">
                <a:effectLst/>
              </a:rPr>
              <a:t>name</a:t>
            </a:r>
          </a:p>
          <a:p>
            <a:pPr lvl="2">
              <a:lnSpc>
                <a:spcPct val="100000"/>
              </a:lnSpc>
              <a:buFont typeface="Wingdings" pitchFamily="-60" charset="2"/>
              <a:buChar char="§"/>
            </a:pPr>
            <a:endParaRPr lang="en-US" sz="2000" b="0" dirty="0" smtClean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16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effectLst/>
              </a:rPr>
              <a:t>Changing Image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ffectLst/>
              </a:rPr>
              <a:t> </a:t>
            </a:r>
            <a:r>
              <a:rPr lang="en-US" sz="2400" b="0" dirty="0" smtClean="0">
                <a:effectLst/>
              </a:rPr>
              <a:t>Images </a:t>
            </a:r>
            <a:r>
              <a:rPr lang="en-US" sz="2400" b="0" dirty="0">
                <a:effectLst/>
              </a:rPr>
              <a:t>on a computer are not like photographs. Computer images are made up of a lot of little colored </a:t>
            </a:r>
            <a:r>
              <a:rPr lang="en-US" sz="2400" b="0" dirty="0" smtClean="0">
                <a:effectLst/>
              </a:rPr>
              <a:t>dots</a:t>
            </a:r>
            <a:r>
              <a:rPr lang="en-US" sz="2400" b="0" dirty="0">
                <a:effectLst/>
              </a:rPr>
              <a:t> </a:t>
            </a:r>
            <a:r>
              <a:rPr lang="en-US" sz="2400" b="0" dirty="0" smtClean="0">
                <a:effectLst/>
              </a:rPr>
              <a:t>known as pixels.</a:t>
            </a:r>
          </a:p>
          <a:p>
            <a:r>
              <a:rPr lang="en-US" sz="2400" b="0" dirty="0" smtClean="0">
                <a:effectLst/>
              </a:rPr>
              <a:t>Every </a:t>
            </a:r>
            <a:r>
              <a:rPr lang="en-US" sz="2400" b="0" dirty="0">
                <a:effectLst/>
              </a:rPr>
              <a:t>image is made up of </a:t>
            </a:r>
            <a:r>
              <a:rPr lang="en-US" sz="2400" b="0" dirty="0" smtClean="0">
                <a:effectLst/>
              </a:rPr>
              <a:t>pixels and we can </a:t>
            </a:r>
            <a:r>
              <a:rPr lang="en-US" sz="2400" b="0" dirty="0">
                <a:effectLst/>
              </a:rPr>
              <a:t>manipulate the image's size using </a:t>
            </a:r>
            <a:r>
              <a:rPr lang="en-US" sz="2400" b="0" dirty="0" smtClean="0">
                <a:effectLst/>
              </a:rPr>
              <a:t>pixels.</a:t>
            </a:r>
          </a:p>
          <a:p>
            <a:r>
              <a:rPr lang="en-US" sz="2400" b="0" dirty="0" smtClean="0">
                <a:effectLst/>
              </a:rPr>
              <a:t>Height &amp; Width attribute can be used to command the image tag for image manipulation.</a:t>
            </a:r>
          </a:p>
          <a:p>
            <a:pPr lvl="2"/>
            <a:r>
              <a:rPr lang="en-US" sz="2400" dirty="0">
                <a:effectLst/>
              </a:rPr>
              <a:t>&lt;IMG HEIGHT="##" WIDTH="##" SRC="image.gif</a:t>
            </a:r>
            <a:r>
              <a:rPr lang="en-US" sz="2400" dirty="0" smtClean="0">
                <a:effectLst/>
              </a:rPr>
              <a:t>"&gt;</a:t>
            </a:r>
          </a:p>
          <a:p>
            <a:r>
              <a:rPr lang="en-US" sz="2800" b="0" dirty="0">
                <a:effectLst/>
              </a:rPr>
              <a:t>replace the "##" with a number of pixels for height and width.</a:t>
            </a:r>
            <a:endParaRPr lang="en-US" sz="2800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44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effectLst/>
              </a:rPr>
              <a:t>Images in Another Folder</a:t>
            </a:r>
          </a:p>
          <a:p>
            <a:r>
              <a:rPr lang="en-US" sz="2800" b="0" dirty="0">
                <a:effectLst/>
              </a:rPr>
              <a:t>If not specified, the browser expects to find the image in the same folder as the web page.</a:t>
            </a:r>
          </a:p>
          <a:p>
            <a:r>
              <a:rPr lang="en-US" sz="2800" b="0" dirty="0">
                <a:effectLst/>
              </a:rPr>
              <a:t>However, it is common to store images in a sub-folder. You must then include the folder name in the </a:t>
            </a:r>
            <a:r>
              <a:rPr lang="en-US" sz="2800" b="0" dirty="0" err="1">
                <a:effectLst/>
              </a:rPr>
              <a:t>src</a:t>
            </a:r>
            <a:r>
              <a:rPr lang="en-US" sz="2800" b="0" dirty="0">
                <a:effectLst/>
              </a:rPr>
              <a:t> attribute</a:t>
            </a:r>
          </a:p>
          <a:p>
            <a:pPr lvl="3"/>
            <a:r>
              <a:rPr lang="en-US" b="0" dirty="0">
                <a:effectLst/>
              </a:rPr>
              <a:t>&lt;</a:t>
            </a:r>
            <a:r>
              <a:rPr lang="en-US" b="0" dirty="0" err="1">
                <a:effectLst/>
              </a:rPr>
              <a:t>img</a:t>
            </a:r>
            <a:r>
              <a:rPr lang="en-US" b="0" dirty="0">
                <a:effectLst/>
              </a:rPr>
              <a:t> </a:t>
            </a:r>
            <a:r>
              <a:rPr lang="en-US" b="0" dirty="0" err="1">
                <a:effectLst/>
              </a:rPr>
              <a:t>src</a:t>
            </a:r>
            <a:r>
              <a:rPr lang="en-US" b="0" dirty="0">
                <a:effectLst/>
              </a:rPr>
              <a:t>="/</a:t>
            </a:r>
            <a:r>
              <a:rPr lang="en-US" b="0" dirty="0" smtClean="0">
                <a:effectLst/>
              </a:rPr>
              <a:t>images/myimage.gif“&gt;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88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Where to Place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 smtClean="0"/>
              <a:t>Here are some ways to add paragraphs and image </a:t>
            </a:r>
            <a:r>
              <a:rPr lang="en-US" sz="2000" dirty="0" err="1" smtClean="0"/>
              <a:t>togather</a:t>
            </a:r>
            <a:r>
              <a:rPr lang="en-US" sz="2000" dirty="0" smtClean="0"/>
              <a:t>--</a:t>
            </a:r>
          </a:p>
          <a:p>
            <a:pPr>
              <a:lnSpc>
                <a:spcPct val="100000"/>
              </a:lnSpc>
            </a:pPr>
            <a:r>
              <a:rPr lang="en-US" sz="2000" dirty="0" smtClean="0"/>
              <a:t>&lt;</a:t>
            </a:r>
            <a:r>
              <a:rPr lang="en-US" sz="2000" dirty="0"/>
              <a:t>html&gt; </a:t>
            </a:r>
            <a:endParaRPr lang="en-US" sz="2000" dirty="0" smtClean="0"/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 smtClean="0"/>
              <a:t>&lt;</a:t>
            </a:r>
            <a:r>
              <a:rPr lang="en-US" sz="1800" dirty="0"/>
              <a:t>body</a:t>
            </a:r>
            <a:r>
              <a:rPr lang="en-US" sz="1800" dirty="0" smtClean="0"/>
              <a:t>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&lt;div style="width:450</a:t>
            </a:r>
            <a:r>
              <a:rPr lang="en-US" sz="1800" dirty="0" smtClean="0"/>
              <a:t>"&gt;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&lt;</a:t>
            </a:r>
            <a:r>
              <a:rPr lang="en-US" sz="1800" dirty="0" err="1"/>
              <a:t>img</a:t>
            </a:r>
            <a:r>
              <a:rPr lang="en-US" sz="1800" dirty="0"/>
              <a:t> </a:t>
            </a:r>
            <a:r>
              <a:rPr lang="en-US" sz="1800" dirty="0" err="1"/>
              <a:t>src</a:t>
            </a:r>
            <a:r>
              <a:rPr lang="en-US" sz="1800" dirty="0"/>
              <a:t>="</a:t>
            </a:r>
            <a:r>
              <a:rPr lang="en-US" sz="1800" dirty="0">
                <a:hlinkClick r:id="rId2"/>
              </a:rPr>
              <a:t>images/bird.gif</a:t>
            </a:r>
            <a:r>
              <a:rPr lang="en-US" sz="1800" dirty="0"/>
              <a:t>" alt="Bird" width="100" height="100" </a:t>
            </a:r>
            <a:r>
              <a:rPr lang="en-US" sz="1800" dirty="0" smtClean="0"/>
              <a:t>/&gt;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&lt;</a:t>
            </a:r>
            <a:r>
              <a:rPr lang="en-US" sz="1800" dirty="0" smtClean="0"/>
              <a:t>p&gt; Some Text &lt;/</a:t>
            </a:r>
            <a:r>
              <a:rPr lang="en-US" sz="1800" dirty="0"/>
              <a:t>p&gt; &lt;</a:t>
            </a:r>
            <a:r>
              <a:rPr lang="en-US" sz="1800" dirty="0" err="1"/>
              <a:t>hr</a:t>
            </a:r>
            <a:r>
              <a:rPr lang="en-US" sz="1800" dirty="0"/>
              <a:t> </a:t>
            </a:r>
            <a:r>
              <a:rPr lang="en-US" sz="1800" dirty="0" smtClean="0"/>
              <a:t>/&gt;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&lt;p&gt;&lt;</a:t>
            </a:r>
            <a:r>
              <a:rPr lang="en-US" sz="1800" dirty="0" err="1"/>
              <a:t>img</a:t>
            </a:r>
            <a:r>
              <a:rPr lang="en-US" sz="1800" dirty="0"/>
              <a:t> </a:t>
            </a:r>
            <a:r>
              <a:rPr lang="en-US" sz="1800" dirty="0" err="1"/>
              <a:t>src</a:t>
            </a:r>
            <a:r>
              <a:rPr lang="en-US" sz="1800" dirty="0"/>
              <a:t>="</a:t>
            </a:r>
            <a:r>
              <a:rPr lang="en-US" sz="1800" dirty="0">
                <a:hlinkClick r:id="rId2"/>
              </a:rPr>
              <a:t>images/bird.gif</a:t>
            </a:r>
            <a:r>
              <a:rPr lang="en-US" sz="1800" dirty="0"/>
              <a:t>" alt="Bird" width="100" height="100" /&gt; </a:t>
            </a:r>
            <a:r>
              <a:rPr lang="en-US" sz="1800" dirty="0" smtClean="0"/>
              <a:t> 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</a:t>
            </a:r>
            <a:r>
              <a:rPr lang="en-US" sz="1800" dirty="0" smtClean="0"/>
              <a:t>Some Text &lt;/</a:t>
            </a:r>
            <a:r>
              <a:rPr lang="en-US" sz="1800" dirty="0"/>
              <a:t>p&gt; &lt;</a:t>
            </a:r>
            <a:r>
              <a:rPr lang="en-US" sz="1800" dirty="0" err="1"/>
              <a:t>hr</a:t>
            </a:r>
            <a:r>
              <a:rPr lang="en-US" sz="1800" dirty="0"/>
              <a:t> </a:t>
            </a:r>
            <a:r>
              <a:rPr lang="en-US" sz="1800" dirty="0" smtClean="0"/>
              <a:t>/&gt;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&lt;</a:t>
            </a:r>
            <a:r>
              <a:rPr lang="en-US" sz="1800" dirty="0" smtClean="0"/>
              <a:t>p&gt;Some Text  </a:t>
            </a:r>
            <a:r>
              <a:rPr lang="en-US" sz="1800" dirty="0"/>
              <a:t>&lt;</a:t>
            </a:r>
            <a:r>
              <a:rPr lang="en-US" sz="1800" dirty="0" err="1"/>
              <a:t>img</a:t>
            </a:r>
            <a:r>
              <a:rPr lang="en-US" sz="1800" dirty="0"/>
              <a:t> </a:t>
            </a:r>
            <a:r>
              <a:rPr lang="en-US" sz="1800" dirty="0" err="1"/>
              <a:t>src</a:t>
            </a:r>
            <a:r>
              <a:rPr lang="en-US" sz="1800" dirty="0"/>
              <a:t>="</a:t>
            </a:r>
            <a:r>
              <a:rPr lang="en-US" sz="1800" dirty="0">
                <a:hlinkClick r:id="rId2"/>
              </a:rPr>
              <a:t>images/bird.gif</a:t>
            </a:r>
            <a:r>
              <a:rPr lang="en-US" sz="1800" dirty="0"/>
              <a:t>" alt="Bird" width="100" </a:t>
            </a:r>
            <a:r>
              <a:rPr lang="en-US" sz="1800" dirty="0" smtClean="0"/>
              <a:t>	height</a:t>
            </a:r>
            <a:r>
              <a:rPr lang="en-US" sz="1800" dirty="0"/>
              <a:t>="100" /&gt; </a:t>
            </a:r>
            <a:r>
              <a:rPr lang="en-US" sz="1800" dirty="0" smtClean="0"/>
              <a:t> More Text &lt;/p</a:t>
            </a:r>
            <a:r>
              <a:rPr lang="en-US" sz="1800" dirty="0"/>
              <a:t>&gt; </a:t>
            </a:r>
            <a:endParaRPr lang="en-US" sz="1800" dirty="0" smtClean="0"/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</a:t>
            </a:r>
            <a:r>
              <a:rPr lang="en-US" sz="1800" dirty="0" smtClean="0"/>
              <a:t>&lt;/</a:t>
            </a:r>
            <a:r>
              <a:rPr lang="en-US" sz="1800" dirty="0"/>
              <a:t>div</a:t>
            </a:r>
            <a:r>
              <a:rPr lang="en-US" sz="1800" dirty="0" smtClean="0"/>
              <a:t>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/>
              <a:t>	</a:t>
            </a:r>
            <a:r>
              <a:rPr lang="en-US" sz="1800" dirty="0" smtClean="0"/>
              <a:t>&lt;/body&gt;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1800" dirty="0" smtClean="0"/>
              <a:t>&lt;/html&gt;</a:t>
            </a:r>
            <a:endParaRPr lang="en-US" sz="1800" dirty="0"/>
          </a:p>
          <a:p>
            <a:pPr lvl="1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61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52578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852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562600"/>
          </a:xfrm>
        </p:spPr>
        <p:txBody>
          <a:bodyPr/>
          <a:lstStyle/>
          <a:p>
            <a:r>
              <a:rPr lang="en-US" sz="2400" dirty="0" smtClean="0">
                <a:effectLst/>
              </a:rPr>
              <a:t>In first paragraph text will appear after image.</a:t>
            </a:r>
            <a:endParaRPr lang="en-US" sz="2400" dirty="0">
              <a:effectLst/>
            </a:endParaRPr>
          </a:p>
          <a:p>
            <a:r>
              <a:rPr lang="en-US" sz="2400" dirty="0" smtClean="0">
                <a:effectLst/>
              </a:rPr>
              <a:t>In second , paragraph text will be bottom aligned with image.</a:t>
            </a:r>
            <a:endParaRPr lang="en-US" sz="2400" dirty="0">
              <a:effectLst/>
            </a:endParaRPr>
          </a:p>
          <a:p>
            <a:r>
              <a:rPr lang="en-US" sz="2400" dirty="0" smtClean="0">
                <a:effectLst/>
              </a:rPr>
              <a:t>In third, Text will be followed by image and further text will be bottom aligned with image.</a:t>
            </a:r>
            <a:endParaRPr lang="en-US" sz="2400" dirty="0">
              <a:effectLst/>
            </a:endParaRP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7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Aligning Images Horizontally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867400"/>
          </a:xfrm>
        </p:spPr>
        <p:txBody>
          <a:bodyPr/>
          <a:lstStyle/>
          <a:p>
            <a:r>
              <a:rPr lang="en-US" sz="2400" b="0" dirty="0"/>
              <a:t>The align attribute is used to align the image within the page or the element that contains the </a:t>
            </a:r>
            <a:r>
              <a:rPr lang="en-US" sz="2400" b="0" dirty="0" smtClean="0"/>
              <a:t>image such as table cell or div.</a:t>
            </a:r>
            <a:endParaRPr lang="en-US" sz="2400" dirty="0" smtClean="0"/>
          </a:p>
          <a:p>
            <a:pPr>
              <a:lnSpc>
                <a:spcPct val="100000"/>
              </a:lnSpc>
            </a:pPr>
            <a:r>
              <a:rPr lang="en-US" sz="2000" dirty="0"/>
              <a:t>&lt;html&gt; </a:t>
            </a:r>
            <a:endParaRPr lang="en-US" sz="2000" dirty="0" smtClean="0"/>
          </a:p>
          <a:p>
            <a:pPr lvl="1">
              <a:lnSpc>
                <a:spcPct val="100000"/>
              </a:lnSpc>
            </a:pPr>
            <a:r>
              <a:rPr lang="en-US" sz="2000" dirty="0" smtClean="0"/>
              <a:t>&lt;</a:t>
            </a:r>
            <a:r>
              <a:rPr lang="en-US" sz="2000" dirty="0"/>
              <a:t>body</a:t>
            </a:r>
            <a:r>
              <a:rPr lang="en-US" sz="2000" dirty="0" smtClean="0"/>
              <a:t>&gt;</a:t>
            </a:r>
          </a:p>
          <a:p>
            <a:pPr lvl="2">
              <a:lnSpc>
                <a:spcPct val="100000"/>
              </a:lnSpc>
            </a:pPr>
            <a:r>
              <a:rPr lang="en-US" sz="2000" dirty="0" smtClean="0"/>
              <a:t> </a:t>
            </a:r>
            <a:r>
              <a:rPr lang="en-US" sz="2000" dirty="0"/>
              <a:t>&lt;div style="width:450"&gt; </a:t>
            </a:r>
            <a:endParaRPr lang="en-US" sz="2000" dirty="0" smtClean="0"/>
          </a:p>
          <a:p>
            <a:pPr lvl="2">
              <a:lnSpc>
                <a:spcPct val="100000"/>
              </a:lnSpc>
            </a:pPr>
            <a:r>
              <a:rPr lang="en-US" sz="2000" dirty="0" smtClean="0"/>
              <a:t>&lt;</a:t>
            </a:r>
            <a:r>
              <a:rPr lang="en-US" sz="2000" dirty="0"/>
              <a:t>p&gt;&lt;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</a:t>
            </a:r>
            <a:r>
              <a:rPr lang="en-US" sz="2000" dirty="0">
                <a:hlinkClick r:id="rId2"/>
              </a:rPr>
              <a:t>images/bird.gif</a:t>
            </a:r>
            <a:r>
              <a:rPr lang="en-US" sz="2000" dirty="0"/>
              <a:t>" alt="Bird" width="100" height="100" align="left" </a:t>
            </a:r>
            <a:r>
              <a:rPr lang="en-US" sz="2000" dirty="0" smtClean="0"/>
              <a:t>/&gt; Some Text&lt;/</a:t>
            </a:r>
            <a:r>
              <a:rPr lang="en-US" sz="2000" dirty="0"/>
              <a:t>p&gt; &lt;</a:t>
            </a:r>
            <a:r>
              <a:rPr lang="en-US" sz="2000" dirty="0" err="1"/>
              <a:t>hr</a:t>
            </a:r>
            <a:r>
              <a:rPr lang="en-US" sz="2000" dirty="0"/>
              <a:t> /&gt; </a:t>
            </a:r>
            <a:endParaRPr lang="en-US" sz="2000" dirty="0" smtClean="0"/>
          </a:p>
          <a:p>
            <a:pPr lvl="2">
              <a:lnSpc>
                <a:spcPct val="100000"/>
              </a:lnSpc>
            </a:pPr>
            <a:r>
              <a:rPr lang="en-US" sz="2000" dirty="0" smtClean="0"/>
              <a:t>&lt;</a:t>
            </a:r>
            <a:r>
              <a:rPr lang="en-US" sz="2000" dirty="0"/>
              <a:t>p&gt;&lt;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</a:t>
            </a:r>
            <a:r>
              <a:rPr lang="en-US" sz="2000" dirty="0">
                <a:hlinkClick r:id="rId2"/>
              </a:rPr>
              <a:t>images/bird.gif</a:t>
            </a:r>
            <a:r>
              <a:rPr lang="en-US" sz="2000" dirty="0"/>
              <a:t>" alt="Bird" width="100" height="100" align="right" </a:t>
            </a:r>
            <a:r>
              <a:rPr lang="en-US" sz="2000" dirty="0" smtClean="0"/>
              <a:t>/&gt; Some Text&lt;/</a:t>
            </a:r>
            <a:r>
              <a:rPr lang="en-US" sz="2000" dirty="0"/>
              <a:t>p&gt; </a:t>
            </a:r>
            <a:endParaRPr lang="en-US" sz="2000" dirty="0" smtClean="0"/>
          </a:p>
          <a:p>
            <a:pPr lvl="2">
              <a:lnSpc>
                <a:spcPct val="100000"/>
              </a:lnSpc>
            </a:pPr>
            <a:r>
              <a:rPr lang="en-US" sz="2000" dirty="0" smtClean="0"/>
              <a:t>&lt;/</a:t>
            </a:r>
            <a:r>
              <a:rPr lang="en-US" sz="2000" dirty="0"/>
              <a:t>div&gt; </a:t>
            </a:r>
            <a:endParaRPr lang="en-US" sz="2000" dirty="0" smtClean="0"/>
          </a:p>
          <a:p>
            <a:pPr marL="649288" lvl="2" indent="0">
              <a:lnSpc>
                <a:spcPct val="100000"/>
              </a:lnSpc>
              <a:buNone/>
            </a:pPr>
            <a:r>
              <a:rPr lang="en-US" sz="2000" dirty="0" smtClean="0"/>
              <a:t>&lt;/</a:t>
            </a:r>
            <a:r>
              <a:rPr lang="en-US" sz="2000" dirty="0"/>
              <a:t>body&gt; </a:t>
            </a:r>
          </a:p>
          <a:p>
            <a:pPr marL="9525" indent="0">
              <a:lnSpc>
                <a:spcPct val="100000"/>
              </a:lnSpc>
              <a:buNone/>
            </a:pPr>
            <a:r>
              <a:rPr lang="en-US" sz="2400" dirty="0" smtClean="0"/>
              <a:t>    &lt;/</a:t>
            </a:r>
            <a:r>
              <a:rPr lang="en-US" sz="2400" dirty="0"/>
              <a:t>html</a:t>
            </a:r>
            <a:r>
              <a:rPr lang="en-US" sz="2400" dirty="0" smtClean="0"/>
              <a:t>&gt;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1600"/>
            <a:ext cx="6096000" cy="457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563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Aligning Images Vertically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6019800"/>
          </a:xfrm>
        </p:spPr>
        <p:txBody>
          <a:bodyPr/>
          <a:lstStyle/>
          <a:p>
            <a:r>
              <a:rPr lang="en-US" sz="2400" dirty="0"/>
              <a:t>Align attribute can be used to command the image alignment.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&lt;html&gt;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&lt;body&gt;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 &lt;div style="width:450"&gt;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&lt;p&gt;&lt;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</a:t>
            </a:r>
            <a:r>
              <a:rPr lang="en-US" sz="2000" dirty="0">
                <a:hlinkClick r:id="rId2"/>
              </a:rPr>
              <a:t>images/bird.gif</a:t>
            </a:r>
            <a:r>
              <a:rPr lang="en-US" sz="2000" dirty="0"/>
              <a:t>" alt="Bird" width="100" height="100" align</a:t>
            </a:r>
            <a:r>
              <a:rPr lang="en-US" sz="2000" dirty="0" smtClean="0"/>
              <a:t>=“top" </a:t>
            </a:r>
            <a:r>
              <a:rPr lang="en-US" sz="2000" dirty="0"/>
              <a:t>/&gt; Some Text&lt;/p&gt; &lt;</a:t>
            </a:r>
            <a:r>
              <a:rPr lang="en-US" sz="2000" dirty="0" err="1"/>
              <a:t>hr</a:t>
            </a:r>
            <a:r>
              <a:rPr lang="en-US" sz="2000" dirty="0"/>
              <a:t> /&gt;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&lt;p&gt;&lt;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</a:t>
            </a:r>
            <a:r>
              <a:rPr lang="en-US" sz="2000" dirty="0">
                <a:hlinkClick r:id="rId2"/>
              </a:rPr>
              <a:t>images/bird.gif</a:t>
            </a:r>
            <a:r>
              <a:rPr lang="en-US" sz="2000" dirty="0"/>
              <a:t>" alt="Bird" width="100" height="100" align</a:t>
            </a:r>
            <a:r>
              <a:rPr lang="en-US" sz="2000" dirty="0" smtClean="0"/>
              <a:t>=“middle" </a:t>
            </a:r>
            <a:r>
              <a:rPr lang="en-US" sz="2000" dirty="0"/>
              <a:t>/&gt; Some Text&lt;/p&gt; </a:t>
            </a:r>
            <a:endParaRPr lang="en-US" sz="2000" dirty="0" smtClean="0"/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&lt;p&gt;&lt;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="</a:t>
            </a:r>
            <a:r>
              <a:rPr lang="en-US" sz="2000" dirty="0">
                <a:hlinkClick r:id="rId2"/>
              </a:rPr>
              <a:t>images/bird.gif</a:t>
            </a:r>
            <a:r>
              <a:rPr lang="en-US" sz="2000" dirty="0"/>
              <a:t>" alt="Bird" width="100" height="100" align</a:t>
            </a:r>
            <a:r>
              <a:rPr lang="en-US" sz="2000" dirty="0" smtClean="0"/>
              <a:t>=“bottom" </a:t>
            </a:r>
            <a:r>
              <a:rPr lang="en-US" sz="2000" dirty="0"/>
              <a:t>/&gt; </a:t>
            </a:r>
            <a:r>
              <a:rPr lang="en-US" sz="2000" dirty="0" smtClean="0"/>
              <a:t>Some </a:t>
            </a:r>
            <a:r>
              <a:rPr lang="en-US" sz="2000" dirty="0"/>
              <a:t>Text&lt;/p&gt;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dirty="0" smtClean="0"/>
              <a:t>&lt;/</a:t>
            </a:r>
            <a:r>
              <a:rPr lang="en-US" sz="2000" dirty="0"/>
              <a:t>div&gt; </a:t>
            </a:r>
          </a:p>
          <a:p>
            <a:pPr marL="649288" lvl="2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&lt;/body&gt; </a:t>
            </a:r>
          </a:p>
          <a:p>
            <a:pPr marL="952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    </a:t>
            </a:r>
            <a:r>
              <a:rPr lang="en-US" sz="2000" dirty="0"/>
              <a:t>&lt;/html&gt; </a:t>
            </a:r>
            <a:endParaRPr lang="en-US" sz="2000" dirty="0" smtClean="0"/>
          </a:p>
          <a:p>
            <a:pPr marL="9525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9525" indent="0">
              <a:lnSpc>
                <a:spcPct val="100000"/>
              </a:lnSpc>
              <a:buNone/>
            </a:pPr>
            <a:r>
              <a:rPr lang="en-US" sz="2000" dirty="0"/>
              <a:t>*** </a:t>
            </a:r>
            <a:r>
              <a:rPr lang="en-US" sz="2000" dirty="0" smtClean="0"/>
              <a:t>Default is bottom alignment.</a:t>
            </a:r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6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38200"/>
            <a:ext cx="5029200" cy="540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40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Values of align attribute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58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7772400" cy="914400"/>
          </a:xfrm>
        </p:spPr>
        <p:txBody>
          <a:bodyPr/>
          <a:lstStyle/>
          <a:p>
            <a:pPr algn="l"/>
            <a:r>
              <a:rPr lang="en-US" b="0" dirty="0"/>
              <a:t>The hspace and vspace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/>
              <a:t>The </a:t>
            </a:r>
            <a:r>
              <a:rPr lang="en-US" sz="2400" b="0" dirty="0" err="1"/>
              <a:t>hspace</a:t>
            </a:r>
            <a:r>
              <a:rPr lang="en-US" sz="2400" b="0" dirty="0"/>
              <a:t> and </a:t>
            </a:r>
            <a:r>
              <a:rPr lang="en-US" sz="2400" b="0" dirty="0" err="1"/>
              <a:t>vspace</a:t>
            </a:r>
            <a:r>
              <a:rPr lang="en-US" sz="2400" b="0" dirty="0"/>
              <a:t> attributes are used to control the amount of whitespace around an image.</a:t>
            </a:r>
          </a:p>
          <a:p>
            <a:pPr lvl="1"/>
            <a:r>
              <a:rPr lang="en-US" sz="2400" b="0" dirty="0" err="1"/>
              <a:t>hspace</a:t>
            </a:r>
            <a:r>
              <a:rPr lang="en-US" sz="2400" b="0" dirty="0"/>
              <a:t>="</a:t>
            </a:r>
            <a:r>
              <a:rPr lang="en-US" sz="2400" b="0" dirty="0" smtClean="0"/>
              <a:t>10“   </a:t>
            </a:r>
            <a:r>
              <a:rPr lang="en-US" sz="2400" b="0" dirty="0" err="1" smtClean="0"/>
              <a:t>vspace</a:t>
            </a:r>
            <a:r>
              <a:rPr lang="en-US" sz="2400" b="0" dirty="0"/>
              <a:t>="</a:t>
            </a:r>
            <a:r>
              <a:rPr lang="en-US" sz="2400" b="0" dirty="0" smtClean="0"/>
              <a:t>14“</a:t>
            </a:r>
            <a:endParaRPr lang="en-US" sz="2400" dirty="0" smtClean="0"/>
          </a:p>
          <a:p>
            <a:r>
              <a:rPr lang="en-US" sz="2400" b="0" dirty="0"/>
              <a:t>The value is the amount in pixels of whitespace that should be left around the image, and is like a </a:t>
            </a:r>
            <a:r>
              <a:rPr lang="en-US" sz="2400" b="0" dirty="0" smtClean="0"/>
              <a:t>white border</a:t>
            </a:r>
            <a:r>
              <a:rPr lang="en-US" sz="2400" b="0" dirty="0"/>
              <a:t>. </a:t>
            </a:r>
            <a:endParaRPr lang="en-US" sz="2400" b="0" dirty="0" smtClean="0"/>
          </a:p>
          <a:p>
            <a:r>
              <a:rPr lang="en-US" sz="2400" b="0" dirty="0" smtClean="0"/>
              <a:t>The </a:t>
            </a:r>
            <a:r>
              <a:rPr lang="en-US" sz="2400" b="0" dirty="0" err="1"/>
              <a:t>hspace</a:t>
            </a:r>
            <a:r>
              <a:rPr lang="en-US" sz="2400" b="0" dirty="0"/>
              <a:t> and </a:t>
            </a:r>
            <a:r>
              <a:rPr lang="en-US" sz="2400" b="0" dirty="0" err="1"/>
              <a:t>vspace</a:t>
            </a:r>
            <a:r>
              <a:rPr lang="en-US" sz="2400" b="0" dirty="0"/>
              <a:t> attributes are particularly helpful because text can flow around </a:t>
            </a:r>
            <a:r>
              <a:rPr lang="en-US" sz="2400" b="0" dirty="0" smtClean="0"/>
              <a:t>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0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86800" cy="914400"/>
          </a:xfrm>
        </p:spPr>
        <p:txBody>
          <a:bodyPr/>
          <a:lstStyle/>
          <a:p>
            <a:pPr algn="l"/>
            <a:r>
              <a:rPr lang="en-US" dirty="0" smtClean="0"/>
              <a:t>Look of the page after using </a:t>
            </a:r>
            <a:r>
              <a:rPr lang="en-US" dirty="0" err="1" smtClean="0"/>
              <a:t>hspace</a:t>
            </a:r>
            <a:r>
              <a:rPr lang="en-US" dirty="0" smtClean="0"/>
              <a:t> &amp; </a:t>
            </a:r>
            <a:r>
              <a:rPr lang="en-US" dirty="0" err="1" smtClean="0"/>
              <a:t>vspace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447800"/>
            <a:ext cx="7620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21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and Figure Caption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 smtClean="0">
                <a:effectLst/>
              </a:rPr>
              <a:t>The </a:t>
            </a:r>
            <a:r>
              <a:rPr lang="en-US" sz="2400" b="0" dirty="0">
                <a:effectLst/>
              </a:rPr>
              <a:t>figure element represents a unit of content, optionally with a caption, that is self-contained, that is typically referenced as a single unit from the main flow of the </a:t>
            </a:r>
            <a:r>
              <a:rPr lang="en-US" sz="2400" b="0" dirty="0" smtClean="0">
                <a:effectLst/>
              </a:rPr>
              <a:t>document.</a:t>
            </a:r>
          </a:p>
          <a:p>
            <a:r>
              <a:rPr lang="en-US" sz="2400" b="0" dirty="0" smtClean="0">
                <a:effectLst/>
              </a:rPr>
              <a:t>It </a:t>
            </a:r>
            <a:r>
              <a:rPr lang="en-US" sz="2400" b="0" dirty="0">
                <a:effectLst/>
              </a:rPr>
              <a:t>can be moved away from the main flow of the document without affecting the document’s meaning. </a:t>
            </a:r>
            <a:endParaRPr lang="en-US" sz="2400" b="0" dirty="0" smtClean="0">
              <a:effectLst/>
            </a:endParaRPr>
          </a:p>
          <a:p>
            <a:r>
              <a:rPr lang="en-US" sz="2200" b="0" i="1" dirty="0" smtClean="0">
                <a:effectLst/>
              </a:rPr>
              <a:t>A caption </a:t>
            </a:r>
            <a:r>
              <a:rPr lang="en-US" sz="2200" b="0" i="1" dirty="0">
                <a:effectLst/>
              </a:rPr>
              <a:t>can be associated with the &lt;figure&gt; element by inserting a </a:t>
            </a:r>
            <a:r>
              <a:rPr lang="en-US" sz="2200" b="0" i="1" dirty="0">
                <a:effectLst/>
                <a:hlinkClick r:id="rId2" tooltip="The HTML &lt;figcaption&gt; Element represents a caption or a legend associated with a figure or an illustration described by the rest of the data of the &lt;figure&gt; element which is its immediate ancestor which means &lt;figcaption&gt; can be the first or last element inside a &lt;figure&gt; block. Also, the HTML Figcaption Element is optional; if not provided, then the parent figure element will have no caption."/>
              </a:rPr>
              <a:t>&lt;</a:t>
            </a:r>
            <a:r>
              <a:rPr lang="en-US" sz="2200" b="0" i="1" dirty="0" err="1">
                <a:effectLst/>
                <a:hlinkClick r:id="rId2" tooltip="The HTML &lt;figcaption&gt; Element represents a caption or a legend associated with a figure or an illustration described by the rest of the data of the &lt;figure&gt; element which is its immediate ancestor which means &lt;figcaption&gt; can be the first or last element inside a &lt;figure&gt; block. Also, the HTML Figcaption Element is optional; if not provided, then the parent figure element will have no caption."/>
              </a:rPr>
              <a:t>figcaption</a:t>
            </a:r>
            <a:r>
              <a:rPr lang="en-US" sz="2200" b="0" i="1" dirty="0">
                <a:effectLst/>
                <a:hlinkClick r:id="rId2" tooltip="The HTML &lt;figcaption&gt; Element represents a caption or a legend associated with a figure or an illustration described by the rest of the data of the &lt;figure&gt; element which is its immediate ancestor which means &lt;figcaption&gt; can be the first or last element inside a &lt;figure&gt; block. Also, the HTML Figcaption Element is optional; if not provided, then the parent figure element will have no caption."/>
              </a:rPr>
              <a:t>&gt;</a:t>
            </a:r>
            <a:r>
              <a:rPr lang="en-US" sz="2200" b="0" i="1" dirty="0">
                <a:effectLst/>
              </a:rPr>
              <a:t>inside it (as the first or the last child).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2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763000" cy="914400"/>
          </a:xfrm>
        </p:spPr>
        <p:txBody>
          <a:bodyPr/>
          <a:lstStyle/>
          <a:p>
            <a:r>
              <a:rPr lang="en-US" dirty="0" smtClean="0"/>
              <a:t>An image with &lt;figure&gt; &amp; &lt;</a:t>
            </a:r>
            <a:r>
              <a:rPr lang="en-US" dirty="0" err="1" smtClean="0"/>
              <a:t>figcaption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 smtClean="0">
                <a:effectLst/>
              </a:rPr>
              <a:t>&lt;html&gt;</a:t>
            </a:r>
          </a:p>
          <a:p>
            <a:pPr>
              <a:lnSpc>
                <a:spcPct val="100000"/>
              </a:lnSpc>
            </a:pPr>
            <a:r>
              <a:rPr lang="en-US" sz="2000" dirty="0" smtClean="0">
                <a:effectLst/>
              </a:rPr>
              <a:t>&lt;body&gt;</a:t>
            </a:r>
          </a:p>
          <a:p>
            <a:pPr>
              <a:lnSpc>
                <a:spcPct val="100000"/>
              </a:lnSpc>
            </a:pPr>
            <a:r>
              <a:rPr lang="en-US" sz="2000" dirty="0" smtClean="0">
                <a:effectLst/>
              </a:rPr>
              <a:t>&lt;</a:t>
            </a:r>
            <a:r>
              <a:rPr lang="en-US" sz="2000" dirty="0">
                <a:effectLst/>
              </a:rPr>
              <a:t>figure&gt;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  </a:t>
            </a:r>
            <a:r>
              <a:rPr lang="en-US" sz="2000" dirty="0" smtClean="0">
                <a:effectLst/>
              </a:rPr>
              <a:t>	&lt;</a:t>
            </a:r>
            <a:r>
              <a:rPr lang="en-US" sz="2000" dirty="0" err="1">
                <a:effectLst/>
              </a:rPr>
              <a:t>img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src</a:t>
            </a:r>
            <a:r>
              <a:rPr lang="en-US" sz="2000" dirty="0">
                <a:effectLst/>
              </a:rPr>
              <a:t>="/macaque.jpg" </a:t>
            </a:r>
            <a:r>
              <a:rPr lang="en-US" sz="2000" dirty="0" smtClean="0">
                <a:effectLst/>
              </a:rPr>
              <a:t> alt</a:t>
            </a:r>
            <a:r>
              <a:rPr lang="en-US" sz="2000" dirty="0">
                <a:effectLst/>
              </a:rPr>
              <a:t>="Macaque in the trees"&gt;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  </a:t>
            </a:r>
            <a:r>
              <a:rPr lang="en-US" sz="2000" dirty="0" smtClean="0">
                <a:effectLst/>
              </a:rPr>
              <a:t>	&lt;</a:t>
            </a:r>
            <a:r>
              <a:rPr lang="en-US" sz="2000" dirty="0" err="1">
                <a:effectLst/>
              </a:rPr>
              <a:t>figcaption</a:t>
            </a:r>
            <a:r>
              <a:rPr lang="en-US" sz="2000" dirty="0">
                <a:effectLst/>
              </a:rPr>
              <a:t>&gt;A cheeky macaque, Lower </a:t>
            </a:r>
            <a:r>
              <a:rPr lang="en-US" sz="2000" dirty="0" err="1">
                <a:effectLst/>
              </a:rPr>
              <a:t>Kintaganban</a:t>
            </a:r>
            <a:r>
              <a:rPr lang="en-US" sz="2000" dirty="0">
                <a:effectLst/>
              </a:rPr>
              <a:t> </a:t>
            </a:r>
            <a:r>
              <a:rPr lang="en-US" sz="2000" dirty="0" smtClean="0">
                <a:effectLst/>
              </a:rPr>
              <a:t>	River</a:t>
            </a:r>
            <a:r>
              <a:rPr lang="en-US" sz="2000" dirty="0">
                <a:effectLst/>
              </a:rPr>
              <a:t>, </a:t>
            </a:r>
            <a:r>
              <a:rPr lang="en-US" sz="2000" dirty="0" smtClean="0">
                <a:effectLst/>
              </a:rPr>
              <a:t>	Borneo</a:t>
            </a:r>
            <a:r>
              <a:rPr lang="en-US" sz="2000" dirty="0">
                <a:effectLst/>
              </a:rPr>
              <a:t>. Original by </a:t>
            </a:r>
            <a:r>
              <a:rPr lang="en-US" sz="2000" dirty="0" smtClean="0">
                <a:effectLst/>
              </a:rPr>
              <a:t> &lt;a </a:t>
            </a:r>
            <a:r>
              <a:rPr lang="en-US" sz="2000" dirty="0" err="1" smtClean="0">
                <a:effectLst/>
              </a:rPr>
              <a:t>href</a:t>
            </a:r>
            <a:r>
              <a:rPr lang="en-US" sz="2000" dirty="0" smtClean="0">
                <a:effectLst/>
              </a:rPr>
              <a:t>= "</a:t>
            </a:r>
            <a:r>
              <a:rPr lang="en-US" sz="2000" dirty="0">
                <a:effectLst/>
              </a:rPr>
              <a:t>http://www.flickr.com/photos/rclark</a:t>
            </a:r>
            <a:r>
              <a:rPr lang="en-US" sz="2000" dirty="0" smtClean="0">
                <a:effectLst/>
              </a:rPr>
              <a:t>/"&gt; 				Richard </a:t>
            </a:r>
            <a:r>
              <a:rPr lang="en-US" sz="2000" dirty="0">
                <a:effectLst/>
              </a:rPr>
              <a:t>Clark&lt;/a</a:t>
            </a:r>
            <a:r>
              <a:rPr lang="en-US" sz="2000" dirty="0" smtClean="0">
                <a:effectLst/>
              </a:rPr>
              <a:t>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2000" dirty="0">
                <a:effectLst/>
              </a:rPr>
              <a:t> </a:t>
            </a:r>
            <a:r>
              <a:rPr lang="en-US" sz="2000" dirty="0" smtClean="0">
                <a:effectLst/>
              </a:rPr>
              <a:t>           &lt;/</a:t>
            </a:r>
            <a:r>
              <a:rPr lang="en-US" sz="2000" dirty="0" err="1">
                <a:effectLst/>
              </a:rPr>
              <a:t>figcaption</a:t>
            </a:r>
            <a:r>
              <a:rPr lang="en-US" sz="2000" dirty="0">
                <a:effectLst/>
              </a:rPr>
              <a:t>&gt;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&lt;/figure</a:t>
            </a:r>
            <a:r>
              <a:rPr lang="en-US" sz="2000" dirty="0" smtClean="0">
                <a:effectLst/>
              </a:rPr>
              <a:t>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2000" dirty="0" smtClean="0">
                <a:effectLst/>
              </a:rPr>
              <a:t>&lt;/body&gt;</a:t>
            </a:r>
          </a:p>
          <a:p>
            <a:pPr marL="357188" lvl="1" indent="0">
              <a:lnSpc>
                <a:spcPct val="100000"/>
              </a:lnSpc>
              <a:buNone/>
            </a:pPr>
            <a:r>
              <a:rPr lang="en-US" sz="2000" dirty="0" smtClean="0">
                <a:effectLst/>
              </a:rPr>
              <a:t>&lt;/html&gt;</a:t>
            </a:r>
          </a:p>
          <a:p>
            <a:pPr marL="357188" lvl="1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49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3074" name="Picture 2" descr="Macaque in the tre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7162800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5800" y="4495800"/>
            <a:ext cx="7086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/>
              <a:t>A cheeky macaque, Lower </a:t>
            </a:r>
            <a:r>
              <a:rPr lang="en-US" i="1" dirty="0" err="1"/>
              <a:t>Kintaganban</a:t>
            </a:r>
            <a:r>
              <a:rPr lang="en-US" i="1" dirty="0"/>
              <a:t> River, Borneo. Original </a:t>
            </a:r>
            <a:r>
              <a:rPr lang="en-US" i="1" dirty="0" smtClean="0"/>
              <a:t>by  </a:t>
            </a:r>
            <a:r>
              <a:rPr lang="en-US" i="1" dirty="0" smtClean="0">
                <a:hlinkClick r:id="rId3"/>
              </a:rPr>
              <a:t>Richard </a:t>
            </a:r>
            <a:r>
              <a:rPr lang="en-US" i="1" dirty="0">
                <a:hlinkClick r:id="rId3"/>
              </a:rPr>
              <a:t>Clark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19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lerik-PowerPoint-Theme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Telerik-PowerPoint-Theme</Template>
  <TotalTime>8404</TotalTime>
  <Words>738</Words>
  <Application>Microsoft Office PowerPoint</Application>
  <PresentationFormat>On-screen Show (4:3)</PresentationFormat>
  <Paragraphs>105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Telerik-PowerPoint-Theme</vt:lpstr>
      <vt:lpstr>HTML</vt:lpstr>
      <vt:lpstr>PowerPoint Presentation</vt:lpstr>
      <vt:lpstr>Adding Images</vt:lpstr>
      <vt:lpstr>PowerPoint Presentation</vt:lpstr>
      <vt:lpstr>Changing Image Size</vt:lpstr>
      <vt:lpstr>PowerPoint Presentation</vt:lpstr>
      <vt:lpstr>Where to Place Images</vt:lpstr>
      <vt:lpstr>OUTPUT</vt:lpstr>
      <vt:lpstr>PowerPoint Presentation</vt:lpstr>
      <vt:lpstr>Aligning Images Horizontally</vt:lpstr>
      <vt:lpstr>OUTPUT</vt:lpstr>
      <vt:lpstr>Aligning Images Vertically</vt:lpstr>
      <vt:lpstr>OUTPUT</vt:lpstr>
      <vt:lpstr>Values of align attribute</vt:lpstr>
      <vt:lpstr>The hspace and vspace Attributes</vt:lpstr>
      <vt:lpstr>Look of the page after using hspace &amp; vspace:</vt:lpstr>
      <vt:lpstr>Figure and Figure Caption</vt:lpstr>
      <vt:lpstr>An image with &lt;figure&gt; &amp; &lt;figcaption&gt;</vt:lpstr>
      <vt:lpstr>PowerPoint Presentation</vt:lpstr>
    </vt:vector>
  </TitlesOfParts>
  <Company>Telerik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Basics - HTML, Text, Images, Tables, Forms</dc:title>
  <dc:creator>Svetlin Nakov</dc:creator>
  <cp:lastModifiedBy>Rahul</cp:lastModifiedBy>
  <cp:revision>750</cp:revision>
  <dcterms:created xsi:type="dcterms:W3CDTF">2007-12-08T16:03:35Z</dcterms:created>
  <dcterms:modified xsi:type="dcterms:W3CDTF">2015-07-04T23:21:29Z</dcterms:modified>
</cp:coreProperties>
</file>