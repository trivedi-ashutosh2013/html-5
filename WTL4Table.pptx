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95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8" r:id="rId11"/>
    <p:sldId id="269" r:id="rId12"/>
    <p:sldId id="297" r:id="rId13"/>
    <p:sldId id="298" r:id="rId14"/>
    <p:sldId id="271" r:id="rId15"/>
    <p:sldId id="274" r:id="rId16"/>
    <p:sldId id="275" r:id="rId17"/>
    <p:sldId id="282" r:id="rId18"/>
    <p:sldId id="280" r:id="rId19"/>
    <p:sldId id="299" r:id="rId20"/>
    <p:sldId id="296" r:id="rId21"/>
    <p:sldId id="283" r:id="rId22"/>
    <p:sldId id="287" r:id="rId23"/>
    <p:sldId id="290" r:id="rId24"/>
    <p:sldId id="29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4304B-017A-4645-9499-C5F66D21B0C0}" type="datetimeFigureOut">
              <a:rPr lang="en-IN" smtClean="0"/>
              <a:pPr/>
              <a:t>10-07-2015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0C6CE-00C5-4A60-B34C-0313991105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8502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E96639-EF78-4853-8DFD-6448D34B37AC}" type="slidenum">
              <a:rPr lang="en-US" smtClean="0">
                <a:latin typeface="Times New Roman" pitchFamily="100" charset="0"/>
              </a:rPr>
              <a:pPr/>
              <a:t>4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 New Roman" pitchFamily="10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49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9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2D5A9B-F557-4FF9-BD30-8B360CB0CAC4}" type="slidenum">
              <a:rPr lang="en-US"/>
              <a:pPr/>
              <a:t>12</a:t>
            </a:fld>
            <a:r>
              <a:rPr lang="en-US" dirty="0"/>
              <a:t>##</a:t>
            </a:r>
          </a:p>
        </p:txBody>
      </p:sp>
      <p:sp>
        <p:nvSpPr>
          <p:cNvPr id="49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5" y="4342938"/>
            <a:ext cx="5487013" cy="4114588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4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22E00D-BDC5-46FE-BE72-6C376B294A0A}" type="slidenum">
              <a:rPr lang="en-US"/>
              <a:pPr/>
              <a:t>20</a:t>
            </a:fld>
            <a:r>
              <a:rPr lang="en-US" dirty="0"/>
              <a:t>##</a:t>
            </a:r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5" y="4342938"/>
            <a:ext cx="5487013" cy="4114588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2BB427F-9D50-4963-9B76-E7B351F8013A}" type="slidenum">
              <a:rPr lang="en-US" smtClean="0">
                <a:latin typeface="Times New Roman" pitchFamily="100" charset="0"/>
              </a:rPr>
              <a:pPr/>
              <a:t>1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HTML Tables</a:t>
            </a:r>
          </a:p>
        </p:txBody>
      </p:sp>
    </p:spTree>
    <p:extLst>
      <p:ext uri="{BB962C8B-B14F-4D97-AF65-F5344CB8AC3E}">
        <p14:creationId xmlns:p14="http://schemas.microsoft.com/office/powerpoint/2010/main" xmlns="" val="245146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667434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 smtClean="0">
                <a:latin typeface="Times New Roman" pitchFamily="18" charset="0"/>
                <a:cs typeface="Times New Roman" pitchFamily="18" charset="0"/>
              </a:rPr>
              <a:t>Table Example</a:t>
            </a:r>
            <a:endParaRPr lang="en-IN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6858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6235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9147A7A-18A0-4B85-9836-4EF19A96D66B}" type="slidenum">
              <a:rPr lang="en-US" smtClean="0">
                <a:latin typeface="Times New Roman" pitchFamily="100" charset="0"/>
              </a:rPr>
              <a:pPr/>
              <a:t>3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Defining a Table Structure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first step to creating a table is to specify the table structure: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number of rows and columns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location of column headings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placement of a table caption</a:t>
            </a:r>
          </a:p>
          <a:p>
            <a:pPr lvl="1" algn="just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Once the table structure is in place, one can start entering data into the table.</a:t>
            </a:r>
          </a:p>
        </p:txBody>
      </p:sp>
    </p:spTree>
    <p:extLst>
      <p:ext uri="{BB962C8B-B14F-4D97-AF65-F5344CB8AC3E}">
        <p14:creationId xmlns:p14="http://schemas.microsoft.com/office/powerpoint/2010/main" xmlns="" val="9181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4284B09-3376-4A88-9625-203CBFD0EB20}" type="slidenum">
              <a:rPr lang="en-US" smtClean="0">
                <a:latin typeface="Times New Roman" pitchFamily="100" charset="0"/>
              </a:rPr>
              <a:pPr/>
              <a:t>4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The General Table Structure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05800" cy="4648200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&lt;table&gt;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&lt;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&lt;td&gt; First Cell &lt;/td&gt;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&lt;td&gt; Second Cell &lt;/td&gt;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&lt;/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&lt;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&lt;td&gt; Third Cell &lt;/td&gt;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&lt;td&gt; Fourth Cell &lt;/td&gt;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&lt;/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&lt;/table&gt;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90600" y="5257800"/>
            <a:ext cx="6926263" cy="914400"/>
            <a:chOff x="398" y="2112"/>
            <a:chExt cx="4690" cy="815"/>
          </a:xfrm>
        </p:grpSpPr>
        <p:graphicFrame>
          <p:nvGraphicFramePr>
            <p:cNvPr id="5127" name="Object 5"/>
            <p:cNvGraphicFramePr>
              <a:graphicFrameLocks noChangeAspect="1"/>
            </p:cNvGraphicFramePr>
            <p:nvPr/>
          </p:nvGraphicFramePr>
          <p:xfrm>
            <a:off x="1248" y="2112"/>
            <a:ext cx="3840" cy="648"/>
          </p:xfrm>
          <a:graphic>
            <a:graphicData uri="http://schemas.openxmlformats.org/presentationml/2006/ole">
              <p:oleObj spid="_x0000_s1037" name="Bitmap Image" r:id="rId4" imgW="3981701" imgH="638298" progId="PBrush">
                <p:embed/>
              </p:oleObj>
            </a:graphicData>
          </a:graphic>
        </p:graphicFrame>
        <p:sp>
          <p:nvSpPr>
            <p:cNvPr id="5128" name="AutoShape 6"/>
            <p:cNvSpPr>
              <a:spLocks/>
            </p:cNvSpPr>
            <p:nvPr/>
          </p:nvSpPr>
          <p:spPr bwMode="auto">
            <a:xfrm>
              <a:off x="1056" y="2172"/>
              <a:ext cx="168" cy="528"/>
            </a:xfrm>
            <a:prstGeom prst="leftBrace">
              <a:avLst>
                <a:gd name="adj1" fmla="val 26190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29" name="Text Box 7"/>
            <p:cNvSpPr txBox="1">
              <a:spLocks noChangeArrowheads="1"/>
            </p:cNvSpPr>
            <p:nvPr/>
          </p:nvSpPr>
          <p:spPr bwMode="auto">
            <a:xfrm>
              <a:off x="398" y="2316"/>
              <a:ext cx="65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600" b="1"/>
                <a:t>two rows</a:t>
              </a:r>
            </a:p>
          </p:txBody>
        </p:sp>
        <p:sp>
          <p:nvSpPr>
            <p:cNvPr id="5130" name="AutoShape 8"/>
            <p:cNvSpPr>
              <a:spLocks/>
            </p:cNvSpPr>
            <p:nvPr/>
          </p:nvSpPr>
          <p:spPr bwMode="auto">
            <a:xfrm rot="-5376299">
              <a:off x="3081" y="970"/>
              <a:ext cx="169" cy="3746"/>
            </a:xfrm>
            <a:prstGeom prst="leftBrace">
              <a:avLst>
                <a:gd name="adj1" fmla="val 184714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126" name="Text Box 9"/>
          <p:cNvSpPr txBox="1">
            <a:spLocks noChangeArrowheads="1"/>
          </p:cNvSpPr>
          <p:nvPr/>
        </p:nvSpPr>
        <p:spPr bwMode="auto">
          <a:xfrm>
            <a:off x="4419600" y="6248400"/>
            <a:ext cx="12747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600" b="1"/>
              <a:t>two columns</a:t>
            </a:r>
          </a:p>
        </p:txBody>
      </p:sp>
    </p:spTree>
    <p:extLst>
      <p:ext uri="{BB962C8B-B14F-4D97-AF65-F5344CB8AC3E}">
        <p14:creationId xmlns:p14="http://schemas.microsoft.com/office/powerpoint/2010/main" xmlns="" val="357692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099625E-6D5A-42AB-85E5-1FCC5DAFE514}" type="slidenum">
              <a:rPr lang="en-US" smtClean="0">
                <a:latin typeface="Times New Roman" pitchFamily="100" charset="0"/>
              </a:rPr>
              <a:pPr/>
              <a:t>5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HTML Structure of a Table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28600" y="1971675"/>
            <a:ext cx="7610475" cy="4200525"/>
            <a:chOff x="144" y="1152"/>
            <a:chExt cx="4794" cy="2646"/>
          </a:xfrm>
        </p:grpSpPr>
        <p:graphicFrame>
          <p:nvGraphicFramePr>
            <p:cNvPr id="717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1851476270"/>
                </p:ext>
              </p:extLst>
            </p:nvPr>
          </p:nvGraphicFramePr>
          <p:xfrm>
            <a:off x="2016" y="1152"/>
            <a:ext cx="1494" cy="2640"/>
          </p:xfrm>
          <a:graphic>
            <a:graphicData uri="http://schemas.openxmlformats.org/presentationml/2006/ole">
              <p:oleObj spid="_x0000_s2061" name="Bitmap Image" r:id="rId3" imgW="1333440" imgH="3324240" progId="PBrush">
                <p:embed/>
              </p:oleObj>
            </a:graphicData>
          </a:graphic>
        </p:graphicFrame>
        <p:sp>
          <p:nvSpPr>
            <p:cNvPr id="7175" name="AutoShape 6"/>
            <p:cNvSpPr>
              <a:spLocks/>
            </p:cNvSpPr>
            <p:nvPr/>
          </p:nvSpPr>
          <p:spPr bwMode="auto">
            <a:xfrm>
              <a:off x="1824" y="1296"/>
              <a:ext cx="229" cy="720"/>
            </a:xfrm>
            <a:prstGeom prst="leftBrace">
              <a:avLst>
                <a:gd name="adj1" fmla="val 26201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176" name="AutoShape 7"/>
            <p:cNvSpPr>
              <a:spLocks/>
            </p:cNvSpPr>
            <p:nvPr/>
          </p:nvSpPr>
          <p:spPr bwMode="auto">
            <a:xfrm>
              <a:off x="144" y="1152"/>
              <a:ext cx="810" cy="151"/>
            </a:xfrm>
            <a:prstGeom prst="callout2">
              <a:avLst>
                <a:gd name="adj1" fmla="val 47681"/>
                <a:gd name="adj2" fmla="val 105926"/>
                <a:gd name="adj3" fmla="val 47681"/>
                <a:gd name="adj4" fmla="val 174199"/>
                <a:gd name="adj5" fmla="val 49667"/>
                <a:gd name="adj6" fmla="val 242593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sz="1400" b="1"/>
                <a:t>beginning of the table structure </a:t>
              </a:r>
            </a:p>
          </p:txBody>
        </p:sp>
        <p:sp>
          <p:nvSpPr>
            <p:cNvPr id="7177" name="AutoShape 8"/>
            <p:cNvSpPr>
              <a:spLocks/>
            </p:cNvSpPr>
            <p:nvPr/>
          </p:nvSpPr>
          <p:spPr bwMode="auto">
            <a:xfrm>
              <a:off x="333" y="2001"/>
              <a:ext cx="810" cy="151"/>
            </a:xfrm>
            <a:prstGeom prst="callout2">
              <a:avLst>
                <a:gd name="adj1" fmla="val 47681"/>
                <a:gd name="adj2" fmla="val 105926"/>
                <a:gd name="adj3" fmla="val 47681"/>
                <a:gd name="adj4" fmla="val 144690"/>
                <a:gd name="adj5" fmla="val -231125"/>
                <a:gd name="adj6" fmla="val 183949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sz="1400" b="1" dirty="0"/>
                <a:t>first row of </a:t>
              </a:r>
              <a:r>
                <a:rPr lang="en-US" sz="1400" b="1" dirty="0" smtClean="0"/>
                <a:t>all </a:t>
              </a:r>
              <a:r>
                <a:rPr lang="en-US" sz="1400" b="1" dirty="0"/>
                <a:t>in the table </a:t>
              </a:r>
            </a:p>
          </p:txBody>
        </p:sp>
        <p:sp>
          <p:nvSpPr>
            <p:cNvPr id="7178" name="AutoShape 9"/>
            <p:cNvSpPr>
              <a:spLocks/>
            </p:cNvSpPr>
            <p:nvPr/>
          </p:nvSpPr>
          <p:spPr bwMode="auto">
            <a:xfrm>
              <a:off x="480" y="3648"/>
              <a:ext cx="810" cy="150"/>
            </a:xfrm>
            <a:prstGeom prst="callout2">
              <a:avLst>
                <a:gd name="adj1" fmla="val 48000"/>
                <a:gd name="adj2" fmla="val 105926"/>
                <a:gd name="adj3" fmla="val 48000"/>
                <a:gd name="adj4" fmla="val 152222"/>
                <a:gd name="adj5" fmla="val 44667"/>
                <a:gd name="adj6" fmla="val 198519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sz="1400" b="1"/>
                <a:t>end of the table structure </a:t>
              </a:r>
            </a:p>
          </p:txBody>
        </p:sp>
        <p:sp>
          <p:nvSpPr>
            <p:cNvPr id="7179" name="AutoShape 10"/>
            <p:cNvSpPr>
              <a:spLocks/>
            </p:cNvSpPr>
            <p:nvPr/>
          </p:nvSpPr>
          <p:spPr bwMode="auto">
            <a:xfrm>
              <a:off x="4128" y="1344"/>
              <a:ext cx="810" cy="151"/>
            </a:xfrm>
            <a:prstGeom prst="callout2">
              <a:avLst>
                <a:gd name="adj1" fmla="val 47681"/>
                <a:gd name="adj2" fmla="val -5926"/>
                <a:gd name="adj3" fmla="val 47681"/>
                <a:gd name="adj4" fmla="val -42468"/>
                <a:gd name="adj5" fmla="val 217218"/>
                <a:gd name="adj6" fmla="val -82347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1400" b="1"/>
                <a:t>table cells</a:t>
              </a:r>
            </a:p>
          </p:txBody>
        </p:sp>
        <p:sp>
          <p:nvSpPr>
            <p:cNvPr id="7180" name="AutoShape 11"/>
            <p:cNvSpPr>
              <a:spLocks/>
            </p:cNvSpPr>
            <p:nvPr/>
          </p:nvSpPr>
          <p:spPr bwMode="auto">
            <a:xfrm flipH="1">
              <a:off x="3264" y="1440"/>
              <a:ext cx="192" cy="48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173" name="Text Box 13"/>
          <p:cNvSpPr txBox="1">
            <a:spLocks noChangeArrowheads="1"/>
          </p:cNvSpPr>
          <p:nvPr/>
        </p:nvSpPr>
        <p:spPr bwMode="auto">
          <a:xfrm>
            <a:off x="6400800" y="2743200"/>
            <a:ext cx="2438400" cy="3124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You do not need to indent the &lt;td&gt; tags or place them on separate lines, but you may find it easier to interpret your code if you do so.</a:t>
            </a:r>
          </a:p>
          <a:p>
            <a:pPr>
              <a:lnSpc>
                <a:spcPct val="90000"/>
              </a:lnSpc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After the table structure is in place, you’re ready to add the text for each cell.</a:t>
            </a:r>
          </a:p>
        </p:txBody>
      </p:sp>
    </p:spTree>
    <p:extLst>
      <p:ext uri="{BB962C8B-B14F-4D97-AF65-F5344CB8AC3E}">
        <p14:creationId xmlns:p14="http://schemas.microsoft.com/office/powerpoint/2010/main" xmlns="" val="302735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666165E-9BEE-4D1A-AF6F-0D119279E88A}" type="slidenum">
              <a:rPr lang="en-US" smtClean="0">
                <a:latin typeface="Times New Roman" pitchFamily="100" charset="0"/>
              </a:rPr>
              <a:pPr/>
              <a:t>6</a:t>
            </a:fld>
            <a:endParaRPr lang="en-US" smtClean="0">
              <a:latin typeface="Times New Roman" pitchFamily="100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-228600" y="4191000"/>
            <a:ext cx="5334000" cy="2209800"/>
            <a:chOff x="-288" y="2784"/>
            <a:chExt cx="3360" cy="1392"/>
          </a:xfrm>
        </p:grpSpPr>
        <p:pic>
          <p:nvPicPr>
            <p:cNvPr id="9226" name="Picture 3" descr="Fig04-1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51" y="2784"/>
              <a:ext cx="2321" cy="1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27" name="AutoShape 4"/>
            <p:cNvSpPr>
              <a:spLocks/>
            </p:cNvSpPr>
            <p:nvPr/>
          </p:nvSpPr>
          <p:spPr bwMode="auto">
            <a:xfrm>
              <a:off x="1027" y="2998"/>
              <a:ext cx="166" cy="399"/>
            </a:xfrm>
            <a:prstGeom prst="leftBrace">
              <a:avLst>
                <a:gd name="adj1" fmla="val 20030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228" name="AutoShape 5"/>
            <p:cNvSpPr>
              <a:spLocks/>
            </p:cNvSpPr>
            <p:nvPr/>
          </p:nvSpPr>
          <p:spPr bwMode="auto">
            <a:xfrm>
              <a:off x="-288" y="3578"/>
              <a:ext cx="748" cy="168"/>
            </a:xfrm>
            <a:prstGeom prst="callout2">
              <a:avLst>
                <a:gd name="adj1" fmla="val 37500"/>
                <a:gd name="adj2" fmla="val 105556"/>
                <a:gd name="adj3" fmla="val 37500"/>
                <a:gd name="adj4" fmla="val 139236"/>
                <a:gd name="adj5" fmla="val -225000"/>
                <a:gd name="adj6" fmla="val 173264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sz="1600" b="1"/>
                <a:t>table headings </a:t>
              </a:r>
            </a:p>
          </p:txBody>
        </p:sp>
      </p:grpSp>
      <p:sp>
        <p:nvSpPr>
          <p:cNvPr id="9220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Adding Table Headings to the Table</a:t>
            </a:r>
          </a:p>
        </p:txBody>
      </p:sp>
      <p:pic>
        <p:nvPicPr>
          <p:cNvPr id="9221" name="Picture 8" descr="Fig04-16"/>
          <p:cNvPicPr>
            <a:picLocks noChangeAspect="1" noChangeArrowheads="1"/>
          </p:cNvPicPr>
          <p:nvPr/>
        </p:nvPicPr>
        <p:blipFill>
          <a:blip r:embed="rId3">
            <a:lum bright="-6000" contrast="12000"/>
          </a:blip>
          <a:srcRect t="13432"/>
          <a:stretch>
            <a:fillRect/>
          </a:stretch>
        </p:blipFill>
        <p:spPr bwMode="auto">
          <a:xfrm>
            <a:off x="3962400" y="2590800"/>
            <a:ext cx="4953000" cy="229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2" name="Rectangle 10"/>
          <p:cNvSpPr>
            <a:spLocks noChangeArrowheads="1"/>
          </p:cNvSpPr>
          <p:nvPr/>
        </p:nvSpPr>
        <p:spPr bwMode="auto">
          <a:xfrm>
            <a:off x="3886200" y="2667000"/>
            <a:ext cx="419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cxnSp>
        <p:nvCxnSpPr>
          <p:cNvPr id="9223" name="AutoShape 11"/>
          <p:cNvCxnSpPr>
            <a:cxnSpLocks noChangeShapeType="1"/>
            <a:stCxn id="9224" idx="0"/>
            <a:endCxn id="9222" idx="1"/>
          </p:cNvCxnSpPr>
          <p:nvPr/>
        </p:nvCxnSpPr>
        <p:spPr bwMode="auto">
          <a:xfrm rot="-5400000">
            <a:off x="1047750" y="2419350"/>
            <a:ext cx="2400300" cy="3276600"/>
          </a:xfrm>
          <a:prstGeom prst="bentConnector2">
            <a:avLst/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9224" name="Rectangle 12"/>
          <p:cNvSpPr>
            <a:spLocks noChangeArrowheads="1"/>
          </p:cNvSpPr>
          <p:nvPr/>
        </p:nvSpPr>
        <p:spPr bwMode="auto">
          <a:xfrm>
            <a:off x="152400" y="5257800"/>
            <a:ext cx="91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13"/>
          <p:cNvSpPr txBox="1">
            <a:spLocks noChangeArrowheads="1"/>
          </p:cNvSpPr>
          <p:nvPr/>
        </p:nvSpPr>
        <p:spPr bwMode="auto">
          <a:xfrm>
            <a:off x="685800" y="1524000"/>
            <a:ext cx="2743200" cy="11430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/>
              <a:t>Text in cells formatted with the </a:t>
            </a:r>
            <a:r>
              <a:rPr lang="en-US" sz="1800" b="1">
                <a:latin typeface="Courier New" pitchFamily="49" charset="0"/>
              </a:rPr>
              <a:t>&lt;th&gt;</a:t>
            </a:r>
            <a:r>
              <a:rPr lang="en-US" sz="1800" b="1"/>
              <a:t> tag is bold and centered above each table column.</a:t>
            </a:r>
          </a:p>
        </p:txBody>
      </p:sp>
    </p:spTree>
    <p:extLst>
      <p:ext uri="{BB962C8B-B14F-4D97-AF65-F5344CB8AC3E}">
        <p14:creationId xmlns:p14="http://schemas.microsoft.com/office/powerpoint/2010/main" xmlns="" val="443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E1D02B3-E379-4F04-846A-1DF346ACAA98}" type="slidenum">
              <a:rPr lang="en-US" smtClean="0">
                <a:latin typeface="Times New Roman" pitchFamily="100" charset="0"/>
              </a:rPr>
              <a:pPr/>
              <a:t>7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Using the &lt;table&gt;, &lt;</a:t>
            </a:r>
            <a:r>
              <a:rPr lang="en-US" sz="3600" b="1" u="sng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&gt;, &lt;td&gt;and &lt;</a:t>
            </a:r>
            <a:r>
              <a:rPr lang="en-US" sz="3600" b="1" u="sng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&gt; Tags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Graphical tables are enclosed within a two-sided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&lt;table&gt;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tag that identifies the start and ending of the table structure.</a:t>
            </a:r>
          </a:p>
          <a:p>
            <a:pPr algn="just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row of the table is indicated using a two-sided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(for table row).</a:t>
            </a:r>
          </a:p>
          <a:p>
            <a:pPr algn="just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Within each table row, a two-sided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(for table data) tag indicates the presence of individual table cells.</a:t>
            </a:r>
          </a:p>
          <a:p>
            <a:pPr marL="0" indent="0" algn="just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HTML provides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tag for table headings.</a:t>
            </a:r>
          </a:p>
          <a:p>
            <a:pPr algn="just"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205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6B5DB5A-3C8B-433D-A25E-1883C3483943}" type="slidenum">
              <a:rPr lang="en-US" smtClean="0">
                <a:latin typeface="Times New Roman" pitchFamily="100" charset="0"/>
              </a:rPr>
              <a:pPr/>
              <a:t>8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Table Caption</a:t>
            </a:r>
          </a:p>
        </p:txBody>
      </p:sp>
      <p:pic>
        <p:nvPicPr>
          <p:cNvPr id="12292" name="Picture 5" descr="Fig04-16"/>
          <p:cNvPicPr>
            <a:picLocks noChangeAspect="1" noChangeArrowheads="1"/>
          </p:cNvPicPr>
          <p:nvPr/>
        </p:nvPicPr>
        <p:blipFill>
          <a:blip r:embed="rId2">
            <a:lum bright="-6000" contrast="12000"/>
          </a:blip>
          <a:srcRect/>
          <a:stretch>
            <a:fillRect/>
          </a:stretch>
        </p:blipFill>
        <p:spPr bwMode="auto">
          <a:xfrm>
            <a:off x="1905000" y="3962400"/>
            <a:ext cx="47752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10"/>
          <p:cNvSpPr>
            <a:spLocks noChangeArrowheads="1"/>
          </p:cNvSpPr>
          <p:nvPr/>
        </p:nvSpPr>
        <p:spPr bwMode="auto">
          <a:xfrm>
            <a:off x="4191000" y="3200400"/>
            <a:ext cx="419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294" name="Rectangle 18"/>
          <p:cNvSpPr>
            <a:spLocks noChangeArrowheads="1"/>
          </p:cNvSpPr>
          <p:nvPr/>
        </p:nvSpPr>
        <p:spPr bwMode="auto">
          <a:xfrm>
            <a:off x="304800" y="5410200"/>
            <a:ext cx="91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219200" y="1447800"/>
            <a:ext cx="5943600" cy="2209800"/>
            <a:chOff x="1344" y="1920"/>
            <a:chExt cx="3930" cy="1342"/>
          </a:xfrm>
        </p:grpSpPr>
        <p:pic>
          <p:nvPicPr>
            <p:cNvPr id="12299" name="Picture 25" descr="Fig04-15"/>
            <p:cNvPicPr>
              <a:picLocks noChangeAspect="1" noChangeArrowheads="1"/>
            </p:cNvPicPr>
            <p:nvPr/>
          </p:nvPicPr>
          <p:blipFill>
            <a:blip r:embed="rId3">
              <a:lum bright="-12000" contrast="30000"/>
            </a:blip>
            <a:srcRect/>
            <a:stretch>
              <a:fillRect/>
            </a:stretch>
          </p:blipFill>
          <p:spPr bwMode="auto">
            <a:xfrm>
              <a:off x="1344" y="2352"/>
              <a:ext cx="3930" cy="9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0" name="AutoShape 26"/>
            <p:cNvSpPr>
              <a:spLocks/>
            </p:cNvSpPr>
            <p:nvPr/>
          </p:nvSpPr>
          <p:spPr bwMode="auto">
            <a:xfrm rot="5400000">
              <a:off x="3593" y="1961"/>
              <a:ext cx="192" cy="816"/>
            </a:xfrm>
            <a:prstGeom prst="leftBrace">
              <a:avLst>
                <a:gd name="adj1" fmla="val 35417"/>
                <a:gd name="adj2" fmla="val 5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301" name="AutoShape 27"/>
            <p:cNvSpPr>
              <a:spLocks/>
            </p:cNvSpPr>
            <p:nvPr/>
          </p:nvSpPr>
          <p:spPr bwMode="auto">
            <a:xfrm>
              <a:off x="4128" y="2880"/>
              <a:ext cx="1008" cy="192"/>
            </a:xfrm>
            <a:prstGeom prst="callout2">
              <a:avLst>
                <a:gd name="adj1" fmla="val 37500"/>
                <a:gd name="adj2" fmla="val -4764"/>
                <a:gd name="adj3" fmla="val 37500"/>
                <a:gd name="adj4" fmla="val -62699"/>
                <a:gd name="adj5" fmla="val -156773"/>
                <a:gd name="adj6" fmla="val -121329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1600" b="1"/>
                <a:t>caption will be centered above the table </a:t>
              </a:r>
            </a:p>
          </p:txBody>
        </p:sp>
        <p:sp>
          <p:nvSpPr>
            <p:cNvPr id="12302" name="AutoShape 28"/>
            <p:cNvSpPr>
              <a:spLocks/>
            </p:cNvSpPr>
            <p:nvPr/>
          </p:nvSpPr>
          <p:spPr bwMode="auto">
            <a:xfrm>
              <a:off x="4224" y="1920"/>
              <a:ext cx="864" cy="192"/>
            </a:xfrm>
            <a:prstGeom prst="callout2">
              <a:avLst>
                <a:gd name="adj1" fmla="val 37500"/>
                <a:gd name="adj2" fmla="val -5556"/>
                <a:gd name="adj3" fmla="val 37500"/>
                <a:gd name="adj4" fmla="val -32523"/>
                <a:gd name="adj5" fmla="val 168750"/>
                <a:gd name="adj6" fmla="val -59722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1600" b="1"/>
                <a:t>caption text </a:t>
              </a:r>
            </a:p>
          </p:txBody>
        </p:sp>
      </p:grpSp>
      <p:sp>
        <p:nvSpPr>
          <p:cNvPr id="12296" name="Rectangle 29"/>
          <p:cNvSpPr>
            <a:spLocks noChangeArrowheads="1"/>
          </p:cNvSpPr>
          <p:nvPr/>
        </p:nvSpPr>
        <p:spPr bwMode="auto">
          <a:xfrm>
            <a:off x="3429000" y="3962400"/>
            <a:ext cx="1371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2297" name="AutoShape 30"/>
          <p:cNvCxnSpPr>
            <a:cxnSpLocks noChangeShapeType="1"/>
            <a:stCxn id="12298" idx="3"/>
            <a:endCxn id="12296" idx="3"/>
          </p:cNvCxnSpPr>
          <p:nvPr/>
        </p:nvCxnSpPr>
        <p:spPr bwMode="auto">
          <a:xfrm flipH="1">
            <a:off x="4800600" y="1600200"/>
            <a:ext cx="1905000" cy="2552700"/>
          </a:xfrm>
          <a:prstGeom prst="bentConnector3">
            <a:avLst>
              <a:gd name="adj1" fmla="val -35333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12298" name="Rectangle 31"/>
          <p:cNvSpPr>
            <a:spLocks noChangeArrowheads="1"/>
          </p:cNvSpPr>
          <p:nvPr/>
        </p:nvSpPr>
        <p:spPr bwMode="auto">
          <a:xfrm>
            <a:off x="5562600" y="14478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366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427AFF9-E13A-4DA0-A062-CFA7D208AB0D}" type="slidenum">
              <a:rPr lang="en-US" smtClean="0">
                <a:latin typeface="Times New Roman" pitchFamily="100" charset="0"/>
              </a:rPr>
              <a:pPr/>
              <a:t>9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Creating a Table Caption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60538"/>
            <a:ext cx="8229600" cy="4335462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HTML allows you to specify a caption for a table.</a:t>
            </a:r>
          </a:p>
          <a:p>
            <a:pPr algn="just" eaLnBrk="1" hangingPunct="1">
              <a:buNone/>
            </a:pPr>
            <a:endParaRPr lang="en-US" sz="36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The syntax for creating a caption is: </a:t>
            </a:r>
            <a:r>
              <a:rPr lang="en-US" sz="3600" b="1" baseline="-25000" dirty="0" smtClean="0">
                <a:latin typeface="Times New Roman" pitchFamily="18" charset="0"/>
                <a:cs typeface="Times New Roman" pitchFamily="18" charset="0"/>
              </a:rPr>
              <a:t>&lt;caption align=“alignment”&gt;caption text&lt;/caption&gt;</a:t>
            </a:r>
          </a:p>
          <a:p>
            <a:pPr lvl="1" algn="just" eaLnBrk="1" hangingPunct="1"/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alignment</a:t>
            </a:r>
            <a:r>
              <a:rPr lang="en-US" sz="3600" b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indicates the caption placement</a:t>
            </a:r>
          </a:p>
          <a:p>
            <a:pPr lvl="1" algn="just" eaLnBrk="1" hangingPunct="1"/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a value of </a:t>
            </a:r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“bottom”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 centers the caption below the table</a:t>
            </a:r>
          </a:p>
          <a:p>
            <a:pPr lvl="1" algn="just" eaLnBrk="1" hangingPunct="1"/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a value of </a:t>
            </a:r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“top”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“center”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 centers the caption above the table</a:t>
            </a:r>
          </a:p>
          <a:p>
            <a:pPr lvl="1" algn="just" eaLnBrk="1" hangingPunct="1"/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a value of </a:t>
            </a:r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“left”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3600" b="1" i="1" baseline="-25000" dirty="0" smtClean="0">
                <a:latin typeface="Times New Roman" pitchFamily="18" charset="0"/>
                <a:cs typeface="Times New Roman" pitchFamily="18" charset="0"/>
              </a:rPr>
              <a:t>“right”</a:t>
            </a:r>
            <a:r>
              <a:rPr lang="en-US" sz="3600" baseline="-25000" dirty="0" smtClean="0">
                <a:latin typeface="Times New Roman" pitchFamily="18" charset="0"/>
                <a:cs typeface="Times New Roman" pitchFamily="18" charset="0"/>
              </a:rPr>
              <a:t> place the caption above the table to the left or right</a:t>
            </a:r>
          </a:p>
        </p:txBody>
      </p:sp>
    </p:spTree>
    <p:extLst>
      <p:ext uri="{BB962C8B-B14F-4D97-AF65-F5344CB8AC3E}">
        <p14:creationId xmlns:p14="http://schemas.microsoft.com/office/powerpoint/2010/main" xmlns="" val="419589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2AB8F52-7A65-4662-8778-AADD3F2BB93F}" type="slidenum">
              <a:rPr lang="en-US" smtClean="0">
                <a:latin typeface="Times New Roman" pitchFamily="100" charset="0"/>
              </a:rPr>
              <a:pPr/>
              <a:t>10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Tables with Different Borders Values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152400" y="1909763"/>
            <a:ext cx="8915400" cy="3762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1800" b="1"/>
              <a:t>This figure shows the effect on a table’s border when the border size is varied.</a:t>
            </a:r>
          </a:p>
        </p:txBody>
      </p:sp>
      <p:graphicFrame>
        <p:nvGraphicFramePr>
          <p:cNvPr id="15365" name="Object 7"/>
          <p:cNvGraphicFramePr>
            <a:graphicFrameLocks noChangeAspect="1"/>
          </p:cNvGraphicFramePr>
          <p:nvPr/>
        </p:nvGraphicFramePr>
        <p:xfrm>
          <a:off x="495300" y="2743200"/>
          <a:ext cx="8153400" cy="2024063"/>
        </p:xfrm>
        <a:graphic>
          <a:graphicData uri="http://schemas.openxmlformats.org/presentationml/2006/ole">
            <p:oleObj spid="_x0000_s3085" name="Bitmap Image" r:id="rId3" imgW="3867528" imgH="1085682" progId="PBrush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90570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D56E149-AD11-4EAF-BC16-FC6090D20BAA}" type="slidenum">
              <a:rPr lang="en-US" smtClean="0">
                <a:latin typeface="Times New Roman" pitchFamily="100" charset="0"/>
              </a:rPr>
              <a:pPr/>
              <a:t>11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Adding a Table Border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458200" cy="5334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By default, browsers display tables without table borders.</a:t>
            </a:r>
          </a:p>
          <a:p>
            <a:pPr eaLnBrk="1" hangingPunct="1">
              <a:buNone/>
            </a:pP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A table border can be added using the border attribute to the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&lt;table&gt;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tag.</a:t>
            </a:r>
          </a:p>
          <a:p>
            <a:pPr eaLnBrk="1" hangingPunct="1">
              <a:buNone/>
            </a:pP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 syntax for creating a table border is: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&lt;table border=“value”&gt;</a:t>
            </a:r>
          </a:p>
          <a:p>
            <a:pPr lvl="1" eaLnBrk="1" hangingPunct="1"/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the width of the border in pixels</a:t>
            </a:r>
          </a:p>
          <a:p>
            <a:pPr lvl="1" eaLnBrk="1" hangingPunct="1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attribute is optional; if you don’t specify a size, the browser creates a table border 1 pixel wide.</a:t>
            </a:r>
          </a:p>
        </p:txBody>
      </p:sp>
    </p:spTree>
    <p:extLst>
      <p:ext uri="{BB962C8B-B14F-4D97-AF65-F5344CB8AC3E}">
        <p14:creationId xmlns:p14="http://schemas.microsoft.com/office/powerpoint/2010/main" xmlns="" val="420174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343400" y="1981200"/>
            <a:ext cx="4267200" cy="441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 smtClean="0">
                <a:latin typeface="Times New Roman" pitchFamily="18" charset="0"/>
                <a:cs typeface="Times New Roman" pitchFamily="18" charset="0"/>
              </a:rPr>
              <a:t>cellpadding</a:t>
            </a: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Defines the empty space around the cell content</a:t>
            </a:r>
            <a:endParaRPr kumimoji="0" lang="en-US" sz="3000" i="0" u="none" strike="noStrike" kern="1200" cap="none" spc="0" normalizeH="0" baseline="0" noProof="0" dirty="0" smtClean="0">
              <a:ln>
                <a:noFill/>
              </a:ln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457200" y="1981200"/>
            <a:ext cx="3352800" cy="45720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 smtClean="0">
                <a:latin typeface="Times New Roman" pitchFamily="18" charset="0"/>
                <a:cs typeface="Times New Roman" pitchFamily="18" charset="0"/>
              </a:rPr>
              <a:t>cellspacing</a:t>
            </a: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Defines the empty space between cells</a:t>
            </a:r>
            <a:endParaRPr kumimoji="0" lang="en-US" sz="3000" i="0" u="none" strike="noStrike" kern="1200" cap="none" spc="0" normalizeH="0" baseline="0" noProof="0" dirty="0" smtClean="0">
              <a:ln>
                <a:noFill/>
              </a:ln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sz="3800" b="1" u="sng" dirty="0" smtClean="0">
                <a:latin typeface="Times New Roman" pitchFamily="18" charset="0"/>
                <a:cs typeface="Times New Roman" pitchFamily="18" charset="0"/>
              </a:rPr>
              <a:t>Cell Spacing and Padding</a:t>
            </a:r>
          </a:p>
        </p:txBody>
      </p:sp>
      <p:sp>
        <p:nvSpPr>
          <p:cNvPr id="10240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334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Tables have two important attributes:</a:t>
            </a:r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969963" y="3055938"/>
            <a:ext cx="2233612" cy="1439862"/>
            <a:chOff x="838" y="1933"/>
            <a:chExt cx="1407" cy="907"/>
          </a:xfrm>
        </p:grpSpPr>
        <p:sp>
          <p:nvSpPr>
            <p:cNvPr id="1024007" name="Rectangle 7"/>
            <p:cNvSpPr>
              <a:spLocks noChangeArrowheads="1"/>
            </p:cNvSpPr>
            <p:nvPr/>
          </p:nvSpPr>
          <p:spPr bwMode="auto">
            <a:xfrm>
              <a:off x="838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08" name="Rectangle 8"/>
            <p:cNvSpPr>
              <a:spLocks noChangeArrowheads="1"/>
            </p:cNvSpPr>
            <p:nvPr/>
          </p:nvSpPr>
          <p:spPr bwMode="auto">
            <a:xfrm>
              <a:off x="1746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09" name="Rectangle 9"/>
            <p:cNvSpPr>
              <a:spLocks noChangeArrowheads="1"/>
            </p:cNvSpPr>
            <p:nvPr/>
          </p:nvSpPr>
          <p:spPr bwMode="auto">
            <a:xfrm>
              <a:off x="838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10" name="Rectangle 10"/>
            <p:cNvSpPr>
              <a:spLocks noChangeArrowheads="1"/>
            </p:cNvSpPr>
            <p:nvPr/>
          </p:nvSpPr>
          <p:spPr bwMode="auto">
            <a:xfrm>
              <a:off x="1746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11" name="Line 11"/>
            <p:cNvSpPr>
              <a:spLocks noChangeShapeType="1"/>
            </p:cNvSpPr>
            <p:nvPr/>
          </p:nvSpPr>
          <p:spPr bwMode="auto">
            <a:xfrm>
              <a:off x="1336" y="2069"/>
              <a:ext cx="410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14" name="Line 14"/>
            <p:cNvSpPr>
              <a:spLocks noChangeShapeType="1"/>
            </p:cNvSpPr>
            <p:nvPr/>
          </p:nvSpPr>
          <p:spPr bwMode="auto">
            <a:xfrm flipH="1">
              <a:off x="1988" y="2197"/>
              <a:ext cx="0" cy="371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29" name="Line 29"/>
            <p:cNvSpPr>
              <a:spLocks noChangeShapeType="1"/>
            </p:cNvSpPr>
            <p:nvPr/>
          </p:nvSpPr>
          <p:spPr bwMode="auto">
            <a:xfrm>
              <a:off x="1337" y="2704"/>
              <a:ext cx="410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0" name="Line 30"/>
            <p:cNvSpPr>
              <a:spLocks noChangeShapeType="1"/>
            </p:cNvSpPr>
            <p:nvPr/>
          </p:nvSpPr>
          <p:spPr bwMode="auto">
            <a:xfrm flipH="1">
              <a:off x="1087" y="2197"/>
              <a:ext cx="0" cy="371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224463" y="2819400"/>
            <a:ext cx="2501900" cy="1887538"/>
            <a:chOff x="3345" y="1688"/>
            <a:chExt cx="1576" cy="1189"/>
          </a:xfrm>
          <a:effectLst/>
        </p:grpSpPr>
        <p:sp>
          <p:nvSpPr>
            <p:cNvPr id="1024025" name="Rectangle 25"/>
            <p:cNvSpPr>
              <a:spLocks noChangeArrowheads="1"/>
            </p:cNvSpPr>
            <p:nvPr/>
          </p:nvSpPr>
          <p:spPr bwMode="auto">
            <a:xfrm>
              <a:off x="3355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1" name="Line 31"/>
            <p:cNvSpPr>
              <a:spLocks noChangeShapeType="1"/>
            </p:cNvSpPr>
            <p:nvPr/>
          </p:nvSpPr>
          <p:spPr bwMode="auto">
            <a:xfrm flipH="1">
              <a:off x="3718" y="2057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3" name="Line 33"/>
            <p:cNvSpPr>
              <a:spLocks noChangeShapeType="1"/>
            </p:cNvSpPr>
            <p:nvPr/>
          </p:nvSpPr>
          <p:spPr bwMode="auto">
            <a:xfrm>
              <a:off x="3345" y="1999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4" name="Line 34"/>
            <p:cNvSpPr>
              <a:spLocks noChangeShapeType="1"/>
            </p:cNvSpPr>
            <p:nvPr/>
          </p:nvSpPr>
          <p:spPr bwMode="auto">
            <a:xfrm>
              <a:off x="3884" y="1996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5" name="Line 35"/>
            <p:cNvSpPr>
              <a:spLocks noChangeShapeType="1"/>
            </p:cNvSpPr>
            <p:nvPr/>
          </p:nvSpPr>
          <p:spPr bwMode="auto">
            <a:xfrm flipH="1">
              <a:off x="3718" y="1718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6" name="Rectangle 36"/>
            <p:cNvSpPr>
              <a:spLocks noChangeArrowheads="1"/>
            </p:cNvSpPr>
            <p:nvPr/>
          </p:nvSpPr>
          <p:spPr bwMode="auto">
            <a:xfrm>
              <a:off x="3355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7" name="Line 37"/>
            <p:cNvSpPr>
              <a:spLocks noChangeShapeType="1"/>
            </p:cNvSpPr>
            <p:nvPr/>
          </p:nvSpPr>
          <p:spPr bwMode="auto">
            <a:xfrm flipH="1">
              <a:off x="3718" y="2647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8" name="Line 38"/>
            <p:cNvSpPr>
              <a:spLocks noChangeShapeType="1"/>
            </p:cNvSpPr>
            <p:nvPr/>
          </p:nvSpPr>
          <p:spPr bwMode="auto">
            <a:xfrm>
              <a:off x="3345" y="2589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39" name="Line 39"/>
            <p:cNvSpPr>
              <a:spLocks noChangeShapeType="1"/>
            </p:cNvSpPr>
            <p:nvPr/>
          </p:nvSpPr>
          <p:spPr bwMode="auto">
            <a:xfrm>
              <a:off x="3884" y="2586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0" name="Line 40"/>
            <p:cNvSpPr>
              <a:spLocks noChangeShapeType="1"/>
            </p:cNvSpPr>
            <p:nvPr/>
          </p:nvSpPr>
          <p:spPr bwMode="auto">
            <a:xfrm flipH="1">
              <a:off x="3718" y="2308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1" name="Rectangle 41"/>
            <p:cNvSpPr>
              <a:spLocks noChangeArrowheads="1"/>
            </p:cNvSpPr>
            <p:nvPr/>
          </p:nvSpPr>
          <p:spPr bwMode="auto">
            <a:xfrm>
              <a:off x="4171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2" name="Line 42"/>
            <p:cNvSpPr>
              <a:spLocks noChangeShapeType="1"/>
            </p:cNvSpPr>
            <p:nvPr/>
          </p:nvSpPr>
          <p:spPr bwMode="auto">
            <a:xfrm flipH="1">
              <a:off x="4534" y="2057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3" name="Line 43"/>
            <p:cNvSpPr>
              <a:spLocks noChangeShapeType="1"/>
            </p:cNvSpPr>
            <p:nvPr/>
          </p:nvSpPr>
          <p:spPr bwMode="auto">
            <a:xfrm>
              <a:off x="4161" y="1999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4" name="Line 44"/>
            <p:cNvSpPr>
              <a:spLocks noChangeShapeType="1"/>
            </p:cNvSpPr>
            <p:nvPr/>
          </p:nvSpPr>
          <p:spPr bwMode="auto">
            <a:xfrm>
              <a:off x="4700" y="1996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5" name="Line 45"/>
            <p:cNvSpPr>
              <a:spLocks noChangeShapeType="1"/>
            </p:cNvSpPr>
            <p:nvPr/>
          </p:nvSpPr>
          <p:spPr bwMode="auto">
            <a:xfrm flipH="1">
              <a:off x="4534" y="1718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6" name="Rectangle 46"/>
            <p:cNvSpPr>
              <a:spLocks noChangeArrowheads="1"/>
            </p:cNvSpPr>
            <p:nvPr/>
          </p:nvSpPr>
          <p:spPr bwMode="auto">
            <a:xfrm>
              <a:off x="4171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7" name="Line 47"/>
            <p:cNvSpPr>
              <a:spLocks noChangeShapeType="1"/>
            </p:cNvSpPr>
            <p:nvPr/>
          </p:nvSpPr>
          <p:spPr bwMode="auto">
            <a:xfrm flipH="1">
              <a:off x="4534" y="2647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8" name="Line 48"/>
            <p:cNvSpPr>
              <a:spLocks noChangeShapeType="1"/>
            </p:cNvSpPr>
            <p:nvPr/>
          </p:nvSpPr>
          <p:spPr bwMode="auto">
            <a:xfrm>
              <a:off x="4161" y="2589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49" name="Line 49"/>
            <p:cNvSpPr>
              <a:spLocks noChangeShapeType="1"/>
            </p:cNvSpPr>
            <p:nvPr/>
          </p:nvSpPr>
          <p:spPr bwMode="auto">
            <a:xfrm>
              <a:off x="4700" y="2586"/>
              <a:ext cx="221" cy="0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050" name="Line 50"/>
            <p:cNvSpPr>
              <a:spLocks noChangeShapeType="1"/>
            </p:cNvSpPr>
            <p:nvPr/>
          </p:nvSpPr>
          <p:spPr bwMode="auto">
            <a:xfrm flipH="1">
              <a:off x="4534" y="2308"/>
              <a:ext cx="0" cy="206"/>
            </a:xfrm>
            <a:prstGeom prst="line">
              <a:avLst/>
            </a:prstGeom>
            <a:ln>
              <a:headEnd type="arrow" w="lg" len="med"/>
              <a:tailEnd type="arrow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5536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CC0BC80-A2D7-495A-B954-A296BA149623}" type="slidenum">
              <a:rPr lang="en-US" smtClean="0">
                <a:latin typeface="Times New Roman" pitchFamily="100" charset="0"/>
              </a:rPr>
              <a:pPr/>
              <a:t>13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Tables with Different Cell Spacing &amp; Cell Padding Values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1725561" y="1423065"/>
            <a:ext cx="5562600" cy="3762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1800" b="1" dirty="0"/>
              <a:t>different cell spacing values</a:t>
            </a:r>
          </a:p>
        </p:txBody>
      </p:sp>
      <p:graphicFrame>
        <p:nvGraphicFramePr>
          <p:cNvPr id="1946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8784399"/>
              </p:ext>
            </p:extLst>
          </p:nvPr>
        </p:nvGraphicFramePr>
        <p:xfrm>
          <a:off x="1066800" y="1806832"/>
          <a:ext cx="6934200" cy="1869281"/>
        </p:xfrm>
        <a:graphic>
          <a:graphicData uri="http://schemas.openxmlformats.org/presentationml/2006/ole">
            <p:oleObj spid="_x0000_s6156" name="Bitmap Image" r:id="rId3" imgW="3761918" imgH="1333333" progId="PBrush">
              <p:embed/>
            </p:oleObj>
          </a:graphicData>
        </a:graphic>
      </p:graphicFrame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1850923" y="3429000"/>
            <a:ext cx="5562600" cy="304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1800" b="1" dirty="0"/>
              <a:t>different cell padding values</a:t>
            </a:r>
          </a:p>
        </p:txBody>
      </p:sp>
      <p:graphicFrame>
        <p:nvGraphicFramePr>
          <p:cNvPr id="194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60128581"/>
              </p:ext>
            </p:extLst>
          </p:nvPr>
        </p:nvGraphicFramePr>
        <p:xfrm>
          <a:off x="1317523" y="3886200"/>
          <a:ext cx="6629400" cy="1905000"/>
        </p:xfrm>
        <a:graphic>
          <a:graphicData uri="http://schemas.openxmlformats.org/presentationml/2006/ole">
            <p:oleObj spid="_x0000_s6157" name="Bitmap Image" r:id="rId4" imgW="3914939" imgH="1247624" progId="PBrush">
              <p:embed/>
            </p:oleObj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106731" y="5777684"/>
            <a:ext cx="6436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Syntax 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&lt;table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cellspacing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=“5"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cellpadding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=“5"&gt;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385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2C1EA3-5F7C-4D36-BB39-812C9F606A46}" type="slidenum">
              <a:rPr lang="en-US" smtClean="0">
                <a:latin typeface="Times New Roman" pitchFamily="100" charset="0"/>
              </a:rPr>
              <a:pPr/>
              <a:t>14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latin typeface="Times New Roman" pitchFamily="18" charset="0"/>
                <a:cs typeface="Times New Roman" pitchFamily="18" charset="0"/>
              </a:rPr>
              <a:t>Defining Cell </a:t>
            </a: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Padding &amp; Cell Spacing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Cell spacing refers to the space between the cells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syntax for specifying the cell space is: </a:t>
            </a:r>
          </a:p>
          <a:p>
            <a:pPr algn="just" eaLnBrk="1" hangingPunct="1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>
              <a:buFontTx/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&lt;table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cellspacing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=“value”&gt;</a:t>
            </a:r>
          </a:p>
          <a:p>
            <a:pPr lvl="1" algn="just" eaLnBrk="1" hangingPunct="1">
              <a:buFontTx/>
              <a:buNone/>
            </a:pPr>
            <a:endParaRPr lang="en-US" sz="10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width of the interior borders in pixels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default cell spacing is 2 pixels</a:t>
            </a:r>
          </a:p>
          <a:p>
            <a:pPr marL="457200" lvl="1" indent="0" algn="just"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46050" indent="-457200" algn="just">
              <a:tabLst>
                <a:tab pos="88900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Cell padding refers to the space within the cells.</a:t>
            </a:r>
          </a:p>
          <a:p>
            <a:pPr marL="88900" lvl="1" indent="0" algn="just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syntax for this attribute is: </a:t>
            </a:r>
          </a:p>
          <a:p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	&lt;table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cellpadding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=“value”&gt;</a:t>
            </a:r>
          </a:p>
          <a:p>
            <a:endParaRPr lang="en-US" sz="8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distance from the table text to the cell border, as measured in pixels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default cell padding value is 1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pixel</a:t>
            </a:r>
          </a:p>
        </p:txBody>
      </p:sp>
    </p:spTree>
    <p:extLst>
      <p:ext uri="{BB962C8B-B14F-4D97-AF65-F5344CB8AC3E}">
        <p14:creationId xmlns:p14="http://schemas.microsoft.com/office/powerpoint/2010/main" xmlns="" val="196527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57200" y="6324600"/>
            <a:ext cx="2895600" cy="365125"/>
          </a:xfrm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defRPr/>
            </a:pPr>
            <a:fld id="{BAD0AB69-930A-4268-9F89-618086543C98}" type="slidenum">
              <a:rPr lang="en-US"/>
              <a:pPr algn="l">
                <a:defRPr/>
              </a:pPr>
              <a:t>15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>
                <a:latin typeface="Times New Roman" pitchFamily="18" charset="0"/>
                <a:cs typeface="Times New Roman" pitchFamily="18" charset="0"/>
              </a:rPr>
              <a:t>Table attributes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457200" y="1295400"/>
            <a:ext cx="8229600" cy="472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900" b="1" dirty="0">
                <a:latin typeface="Courier New" pitchFamily="49" charset="0"/>
              </a:rPr>
              <a:t>&lt;table border="3" align="</a:t>
            </a:r>
            <a:r>
              <a:rPr lang="en-GB" sz="1900" b="1" dirty="0" err="1">
                <a:latin typeface="Courier New" pitchFamily="49" charset="0"/>
              </a:rPr>
              <a:t>center</a:t>
            </a:r>
            <a:r>
              <a:rPr lang="en-GB" sz="1900" b="1" dirty="0">
                <a:latin typeface="Courier New" pitchFamily="49" charset="0"/>
              </a:rPr>
              <a:t>" </a:t>
            </a:r>
            <a:r>
              <a:rPr lang="en-GB" sz="1900" b="1" dirty="0" err="1">
                <a:latin typeface="Courier New" pitchFamily="49" charset="0"/>
              </a:rPr>
              <a:t>cellspacing</a:t>
            </a:r>
            <a:r>
              <a:rPr lang="en-GB" sz="1900" b="1" dirty="0">
                <a:latin typeface="Courier New" pitchFamily="49" charset="0"/>
              </a:rPr>
              <a:t>="6" </a:t>
            </a:r>
            <a:r>
              <a:rPr lang="en-GB" sz="1900" b="1" dirty="0" err="1">
                <a:latin typeface="Courier New" pitchFamily="49" charset="0"/>
              </a:rPr>
              <a:t>cellpadding</a:t>
            </a:r>
            <a:r>
              <a:rPr lang="en-GB" sz="1900" b="1" dirty="0">
                <a:latin typeface="Courier New" pitchFamily="49" charset="0"/>
              </a:rPr>
              <a:t>="6" </a:t>
            </a:r>
            <a:r>
              <a:rPr lang="en-GB" sz="1900" b="1" dirty="0" err="1">
                <a:latin typeface="Courier New" pitchFamily="49" charset="0"/>
              </a:rPr>
              <a:t>bgcolor</a:t>
            </a:r>
            <a:r>
              <a:rPr lang="en-GB" sz="1900" b="1" dirty="0">
                <a:latin typeface="Courier New" pitchFamily="49" charset="0"/>
              </a:rPr>
              <a:t>="cyan"&gt;</a:t>
            </a:r>
          </a:p>
          <a:p>
            <a:r>
              <a:rPr lang="en-GB" sz="1900" b="1" dirty="0">
                <a:latin typeface="Courier New" pitchFamily="49" charset="0"/>
              </a:rPr>
              <a:t> &lt;caption&gt;</a:t>
            </a:r>
          </a:p>
          <a:p>
            <a:r>
              <a:rPr lang="en-GB" sz="1900" b="1" dirty="0">
                <a:latin typeface="Courier New" pitchFamily="49" charset="0"/>
              </a:rPr>
              <a:t>   &lt;h2&gt;Course Data&lt;/h2&gt;</a:t>
            </a:r>
          </a:p>
          <a:p>
            <a:r>
              <a:rPr lang="en-GB" sz="1900" b="1" dirty="0">
                <a:latin typeface="Courier New" pitchFamily="49" charset="0"/>
              </a:rPr>
              <a:t> &lt;/caption&gt;</a:t>
            </a:r>
          </a:p>
          <a:p>
            <a:r>
              <a:rPr lang="en-GB" sz="1900" b="1" dirty="0">
                <a:latin typeface="Courier New" pitchFamily="49" charset="0"/>
              </a:rPr>
              <a:t> </a:t>
            </a:r>
            <a:r>
              <a:rPr lang="en-US" sz="1900" b="1" dirty="0">
                <a:latin typeface="Courier New" pitchFamily="49" charset="0"/>
              </a:rPr>
              <a:t>&lt;</a:t>
            </a:r>
            <a:r>
              <a:rPr lang="en-US" sz="1900" b="1" dirty="0" err="1">
                <a:latin typeface="Courier New" pitchFamily="49" charset="0"/>
              </a:rPr>
              <a:t>tr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US" sz="1900" b="1" dirty="0">
                <a:latin typeface="Courier New" pitchFamily="49" charset="0"/>
              </a:rPr>
              <a:t>  &lt;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  <a:r>
              <a:rPr lang="en-US" sz="1900" dirty="0">
                <a:latin typeface="Courier New" pitchFamily="49" charset="0"/>
              </a:rPr>
              <a:t>Name</a:t>
            </a:r>
            <a:r>
              <a:rPr lang="en-US" sz="1900" b="1" dirty="0">
                <a:latin typeface="Courier New" pitchFamily="49" charset="0"/>
              </a:rPr>
              <a:t>&lt;/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US" sz="1900" b="1" dirty="0">
                <a:latin typeface="Courier New" pitchFamily="49" charset="0"/>
              </a:rPr>
              <a:t>  &lt;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  <a:r>
              <a:rPr lang="en-US" sz="1900" dirty="0">
                <a:latin typeface="Courier New" pitchFamily="49" charset="0"/>
              </a:rPr>
              <a:t>Course</a:t>
            </a:r>
            <a:r>
              <a:rPr lang="en-US" sz="1900" b="1" dirty="0">
                <a:latin typeface="Courier New" pitchFamily="49" charset="0"/>
              </a:rPr>
              <a:t>&lt;/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US" sz="1900" b="1" dirty="0">
                <a:latin typeface="Courier New" pitchFamily="49" charset="0"/>
              </a:rPr>
              <a:t>  &lt;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  <a:r>
              <a:rPr lang="en-US" sz="1900" dirty="0">
                <a:latin typeface="Courier New" pitchFamily="49" charset="0"/>
              </a:rPr>
              <a:t>Year</a:t>
            </a:r>
            <a:r>
              <a:rPr lang="en-US" sz="1900" b="1" dirty="0">
                <a:latin typeface="Courier New" pitchFamily="49" charset="0"/>
              </a:rPr>
              <a:t>&lt;/</a:t>
            </a:r>
            <a:r>
              <a:rPr lang="en-US" sz="1900" b="1" dirty="0" err="1">
                <a:latin typeface="Courier New" pitchFamily="49" charset="0"/>
              </a:rPr>
              <a:t>th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US" sz="1900" b="1" dirty="0">
                <a:latin typeface="Courier New" pitchFamily="49" charset="0"/>
              </a:rPr>
              <a:t> &lt;/</a:t>
            </a:r>
            <a:r>
              <a:rPr lang="en-US" sz="1900" b="1" dirty="0" err="1">
                <a:latin typeface="Courier New" pitchFamily="49" charset="0"/>
              </a:rPr>
              <a:t>tr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US" sz="1900" b="1" dirty="0">
                <a:latin typeface="Courier New" pitchFamily="49" charset="0"/>
              </a:rPr>
              <a:t> &lt;</a:t>
            </a:r>
            <a:r>
              <a:rPr lang="en-US" sz="1900" b="1" dirty="0" err="1">
                <a:latin typeface="Courier New" pitchFamily="49" charset="0"/>
              </a:rPr>
              <a:t>tr</a:t>
            </a:r>
            <a:r>
              <a:rPr lang="en-US" sz="1900" b="1" dirty="0">
                <a:latin typeface="Courier New" pitchFamily="49" charset="0"/>
              </a:rPr>
              <a:t>&gt; </a:t>
            </a:r>
          </a:p>
          <a:p>
            <a:r>
              <a:rPr lang="en-US" sz="1900" b="1" dirty="0">
                <a:latin typeface="Courier New" pitchFamily="49" charset="0"/>
              </a:rPr>
              <a:t>  &lt;td&gt;</a:t>
            </a:r>
            <a:r>
              <a:rPr lang="en-US" sz="1900" dirty="0">
                <a:latin typeface="Courier New" pitchFamily="49" charset="0"/>
              </a:rPr>
              <a:t>A B Morgan</a:t>
            </a:r>
            <a:r>
              <a:rPr lang="en-US" sz="1900" b="1" dirty="0">
                <a:latin typeface="Courier New" pitchFamily="49" charset="0"/>
              </a:rPr>
              <a:t>&lt;/td&gt;</a:t>
            </a:r>
          </a:p>
          <a:p>
            <a:r>
              <a:rPr lang="en-US" sz="1900" b="1" dirty="0">
                <a:latin typeface="Courier New" pitchFamily="49" charset="0"/>
              </a:rPr>
              <a:t>  &lt;td&gt;</a:t>
            </a:r>
            <a:r>
              <a:rPr lang="en-US" sz="1900" dirty="0">
                <a:latin typeface="Courier New" pitchFamily="49" charset="0"/>
              </a:rPr>
              <a:t>Fishing</a:t>
            </a:r>
            <a:r>
              <a:rPr lang="en-US" sz="1900" b="1" dirty="0">
                <a:latin typeface="Courier New" pitchFamily="49" charset="0"/>
              </a:rPr>
              <a:t>&lt;/td&gt;</a:t>
            </a:r>
          </a:p>
          <a:p>
            <a:r>
              <a:rPr lang="en-US" sz="1900" b="1" dirty="0">
                <a:latin typeface="Courier New" pitchFamily="49" charset="0"/>
              </a:rPr>
              <a:t>  &lt;td&gt;</a:t>
            </a:r>
            <a:r>
              <a:rPr lang="en-US" sz="1900" dirty="0">
                <a:latin typeface="Courier New" pitchFamily="49" charset="0"/>
              </a:rPr>
              <a:t>5</a:t>
            </a:r>
            <a:r>
              <a:rPr lang="en-US" sz="1900" b="1" dirty="0">
                <a:latin typeface="Courier New" pitchFamily="49" charset="0"/>
              </a:rPr>
              <a:t>&lt;/td&gt;</a:t>
            </a:r>
          </a:p>
          <a:p>
            <a:r>
              <a:rPr lang="en-US" sz="1900" b="1" dirty="0">
                <a:latin typeface="Courier New" pitchFamily="49" charset="0"/>
              </a:rPr>
              <a:t> &lt;/</a:t>
            </a:r>
            <a:r>
              <a:rPr lang="en-US" sz="1900" b="1" dirty="0" err="1">
                <a:latin typeface="Courier New" pitchFamily="49" charset="0"/>
              </a:rPr>
              <a:t>tr</a:t>
            </a:r>
            <a:r>
              <a:rPr lang="en-US" sz="1900" b="1" dirty="0">
                <a:latin typeface="Courier New" pitchFamily="49" charset="0"/>
              </a:rPr>
              <a:t>&gt;</a:t>
            </a:r>
          </a:p>
          <a:p>
            <a:r>
              <a:rPr lang="en-GB" sz="1900" b="1" dirty="0">
                <a:latin typeface="Courier New" pitchFamily="49" charset="0"/>
              </a:rPr>
              <a:t>&lt;!– </a:t>
            </a:r>
            <a:r>
              <a:rPr lang="en-GB" sz="1900" b="1" dirty="0" err="1">
                <a:latin typeface="Courier New" pitchFamily="49" charset="0"/>
              </a:rPr>
              <a:t>etc</a:t>
            </a:r>
            <a:r>
              <a:rPr lang="en-GB" sz="1900" b="1" dirty="0">
                <a:latin typeface="Courier New" pitchFamily="49" charset="0"/>
              </a:rPr>
              <a:t> --&gt;</a:t>
            </a:r>
          </a:p>
        </p:txBody>
      </p:sp>
      <p:pic>
        <p:nvPicPr>
          <p:cNvPr id="8198" name="Picture 1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648200" y="2286000"/>
            <a:ext cx="3838575" cy="3551238"/>
          </a:xfrm>
          <a:noFill/>
        </p:spPr>
      </p:pic>
    </p:spTree>
    <p:extLst>
      <p:ext uri="{BB962C8B-B14F-4D97-AF65-F5344CB8AC3E}">
        <p14:creationId xmlns:p14="http://schemas.microsoft.com/office/powerpoint/2010/main" xmlns="" val="155848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04801"/>
            <a:ext cx="7772400" cy="990600"/>
          </a:xfrm>
        </p:spPr>
        <p:txBody>
          <a:bodyPr/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Table Width and Height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00200"/>
            <a:ext cx="7772400" cy="4876800"/>
          </a:xfrm>
        </p:spPr>
        <p:txBody>
          <a:bodyPr>
            <a:noAutofit/>
          </a:bodyPr>
          <a:lstStyle/>
          <a:p>
            <a:pPr lvl="1" algn="just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Table Width &amp; Height is 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optional.</a:t>
            </a:r>
          </a:p>
          <a:p>
            <a:pPr lvl="1" algn="just"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24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Width &amp; Height can be defined in the open table tag</a:t>
            </a:r>
          </a:p>
          <a:p>
            <a:pPr lvl="2" algn="just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&lt;table width=“100” height=“100”&gt;</a:t>
            </a:r>
          </a:p>
          <a:p>
            <a:pPr lvl="2" algn="just"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38163" lvl="2" indent="376238" algn="just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no size values are specified, the browser will decide on an appropriate size. Results will vary between browsers.</a:t>
            </a:r>
          </a:p>
          <a:p>
            <a:pPr marL="538163" lvl="2" indent="376238" algn="just"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38163" lvl="2" indent="376238" algn="just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create a table whose height is equal to the entire height of the display area, enter the attribute height=“100%”.</a:t>
            </a:r>
          </a:p>
          <a:p>
            <a:pPr marL="538163" lvl="2" indent="376238" algn="just"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215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50A0DC2-2C5C-450F-A645-2DBEE0D51E79}" type="slidenum">
              <a:rPr lang="en-US" smtClean="0">
                <a:latin typeface="Times New Roman" pitchFamily="100" charset="0"/>
              </a:rPr>
              <a:pPr/>
              <a:t>17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8683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Values of the Align &amp; </a:t>
            </a:r>
            <a:r>
              <a:rPr lang="en-US" b="1" u="sng" dirty="0" err="1" smtClean="0">
                <a:latin typeface="Times New Roman" pitchFamily="18" charset="0"/>
                <a:cs typeface="Times New Roman" pitchFamily="18" charset="0"/>
              </a:rPr>
              <a:t>Valign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 Attributes</a:t>
            </a:r>
          </a:p>
        </p:txBody>
      </p:sp>
      <p:pic>
        <p:nvPicPr>
          <p:cNvPr id="32772" name="Picture 5" descr="Fig04-30"/>
          <p:cNvPicPr>
            <a:picLocks noChangeAspect="1" noChangeArrowheads="1"/>
          </p:cNvPicPr>
          <p:nvPr/>
        </p:nvPicPr>
        <p:blipFill>
          <a:blip r:embed="rId2">
            <a:lum bright="-6000" contrast="12000"/>
          </a:blip>
          <a:srcRect/>
          <a:stretch>
            <a:fillRect/>
          </a:stretch>
        </p:blipFill>
        <p:spPr bwMode="auto">
          <a:xfrm>
            <a:off x="685800" y="1752600"/>
            <a:ext cx="7620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0790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27A60CA-E2CD-4BDE-9B50-5DA4E6900A04}" type="slidenum">
              <a:rPr lang="en-US" smtClean="0">
                <a:latin typeface="Times New Roman" pitchFamily="100" charset="0"/>
              </a:rPr>
              <a:pPr/>
              <a:t>18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Aligning a Table on the Web Page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default, a browser places a table on the left margin of a Web page, with surrounding text placed above and below the table.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align a table with  the surrounding text, use the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align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attribute as follows: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align=“alignment”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alignment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equals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“left”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“right”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“center”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alignment places the table on the margin of the Web page and wraps surrounding text to the side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center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alignment places the table in the horizontal center of the page, but does not allow text to wrap around it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align attribute is similar to the align attribute used with the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img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tag.</a:t>
            </a:r>
          </a:p>
        </p:txBody>
      </p:sp>
    </p:spTree>
    <p:extLst>
      <p:ext uri="{BB962C8B-B14F-4D97-AF65-F5344CB8AC3E}">
        <p14:creationId xmlns:p14="http://schemas.microsoft.com/office/powerpoint/2010/main" xmlns="" val="210902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&lt;TABLE border="1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"&gt;</a:t>
            </a:r>
          </a:p>
          <a:p>
            <a:pPr marL="0" indent="0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&lt;TR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&lt;TD&gt;1&lt;/TD&gt;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="2"&gt;2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&lt;/TD&gt;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&lt;TD&gt;3&lt;/TD&gt;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TR&gt;</a:t>
            </a:r>
          </a:p>
          <a:p>
            <a:pPr marL="0" indent="0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&lt;TR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TD&gt;4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&lt;/TD&gt;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&lt;TD&gt;6&lt;/TD&gt;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&lt;/TR&gt;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&lt;TR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&lt;TD&gt;7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&lt;/TD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TD&gt;8 &lt;/TD&gt;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&lt;TD&gt;9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&lt;/TD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&lt;/TR&gt;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&lt;/TABLE&gt;</a:t>
            </a:r>
          </a:p>
        </p:txBody>
      </p:sp>
      <p:pic>
        <p:nvPicPr>
          <p:cNvPr id="7170" name="Picture 2" descr="Image of a table with rowspan=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81200"/>
            <a:ext cx="39624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39751" y="152400"/>
            <a:ext cx="837564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Column and Row Span – Example - 1</a:t>
            </a:r>
          </a:p>
        </p:txBody>
      </p:sp>
    </p:spTree>
    <p:extLst>
      <p:ext uri="{BB962C8B-B14F-4D97-AF65-F5344CB8AC3E}">
        <p14:creationId xmlns:p14="http://schemas.microsoft.com/office/powerpoint/2010/main" xmlns="" val="248375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9" name="Rectangle 3"/>
          <p:cNvSpPr>
            <a:spLocks noChangeArrowheads="1"/>
          </p:cNvSpPr>
          <p:nvPr/>
        </p:nvSpPr>
        <p:spPr bwMode="auto">
          <a:xfrm>
            <a:off x="539751" y="1371600"/>
            <a:ext cx="448945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&lt;table cellspacing="0"&gt;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    &lt;tr&gt;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&lt;td&gt;Cell[1,1]&lt;/td&gt;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 colspan="2"&gt;Cell[2,1]&lt;/td&gt;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    &lt;tr&gt;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&lt;td&gt;Cell[1,2]&lt;/td&gt;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 rowspan="2"&gt;Cell[2,2]&lt;/td&gt;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&lt;td&gt;Cell[3,2]&lt;/td&gt;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    &lt;tr&gt;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&lt;td&gt;Cell[1,3]&lt;/td&gt;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&lt;td&gt;Cell[2,3]&lt;/td&gt;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noProof="1" smtClean="0">
                <a:latin typeface="Times New Roman" pitchFamily="18" charset="0"/>
                <a:cs typeface="Times New Roman" pitchFamily="18" charset="0"/>
              </a:rPr>
              <a:t>&lt;/table&gt;</a:t>
            </a:r>
          </a:p>
        </p:txBody>
      </p:sp>
      <p:sp>
        <p:nvSpPr>
          <p:cNvPr id="103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1" y="152400"/>
            <a:ext cx="8375649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Column and Row Span – Example - 2</a:t>
            </a:r>
          </a:p>
        </p:txBody>
      </p:sp>
      <p:sp>
        <p:nvSpPr>
          <p:cNvPr id="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1038341" name="Rectangle 5"/>
          <p:cNvSpPr>
            <a:spLocks noChangeArrowheads="1"/>
          </p:cNvSpPr>
          <p:nvPr/>
        </p:nvSpPr>
        <p:spPr bwMode="auto">
          <a:xfrm>
            <a:off x="2617788" y="2332038"/>
            <a:ext cx="184150" cy="822325"/>
          </a:xfrm>
          <a:prstGeom prst="rect">
            <a:avLst/>
          </a:prstGeom>
          <a:noFill/>
          <a:ln w="25400" algn="ctr">
            <a:noFill/>
            <a:miter lim="800000"/>
            <a:headEnd type="none" w="lg" len="med"/>
            <a:tailEnd type="none" w="lg" len="med"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 b="0">
                <a:solidFill>
                  <a:schemeClr val="tx1"/>
                </a:solidFill>
              </a:rPr>
              <a:t/>
            </a:r>
            <a:br>
              <a:rPr lang="en-US" sz="2400" b="0">
                <a:solidFill>
                  <a:schemeClr val="tx1"/>
                </a:solidFill>
              </a:rPr>
            </a:br>
            <a:endParaRPr lang="en-US" sz="2400" b="0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3319768" y="4038600"/>
            <a:ext cx="5472112" cy="2592387"/>
            <a:chOff x="1649" y="1987"/>
            <a:chExt cx="2463" cy="864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291" y="2563"/>
              <a:ext cx="821" cy="288"/>
            </a:xfrm>
            <a:prstGeom prst="rect">
              <a:avLst/>
            </a:prstGeom>
            <a:solidFill>
              <a:srgbClr val="CCCCFF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Cell[2,3]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649" y="2563"/>
              <a:ext cx="821" cy="288"/>
            </a:xfrm>
            <a:prstGeom prst="rect">
              <a:avLst/>
            </a:prstGeom>
            <a:solidFill>
              <a:srgbClr val="CCCCFF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Cell[1,3]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291" y="2275"/>
              <a:ext cx="821" cy="288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Cell[3,2]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470" y="2275"/>
              <a:ext cx="821" cy="576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Cell[2,2]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649" y="2275"/>
              <a:ext cx="821" cy="288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Cell[1,2]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470" y="1987"/>
              <a:ext cx="1642" cy="288"/>
            </a:xfrm>
            <a:prstGeom prst="rect">
              <a:avLst/>
            </a:prstGeom>
            <a:solidFill>
              <a:srgbClr val="FFFF00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Cell[2,1]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649" y="1987"/>
              <a:ext cx="821" cy="288"/>
            </a:xfrm>
            <a:prstGeom prst="rect">
              <a:avLst/>
            </a:prstGeom>
            <a:solidFill>
              <a:srgbClr val="FFFF00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Cell[1,1]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649" y="1987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649" y="2851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649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112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649" y="2275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470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649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291" y="2275"/>
              <a:ext cx="0" cy="576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291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07333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AE7FC09-A857-419B-8C45-2F6D47CE368B}" type="slidenum">
              <a:rPr lang="en-US" smtClean="0">
                <a:latin typeface="Times New Roman" pitchFamily="100" charset="0"/>
              </a:rPr>
              <a:pPr/>
              <a:t>21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Spanning Rows and Columns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merge several cells into one, you need to create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spanning cell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spanning cell is a cell that occupies more than one row or column in a table.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Spanning cells are created by inserting the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colspan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attribute in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tag.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syntax for these attributes is: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=“value”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colspan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=“value”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 b="1" i="1" dirty="0" smtClean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is the number of rows or columns that the cell spans in the table</a:t>
            </a:r>
          </a:p>
        </p:txBody>
      </p:sp>
    </p:spTree>
    <p:extLst>
      <p:ext uri="{BB962C8B-B14F-4D97-AF65-F5344CB8AC3E}">
        <p14:creationId xmlns:p14="http://schemas.microsoft.com/office/powerpoint/2010/main" xmlns="" val="152651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47353AF-CBD3-49AE-9AE0-7EEBE9E6ED55}" type="slidenum">
              <a:rPr lang="en-US" smtClean="0">
                <a:latin typeface="Times New Roman" pitchFamily="100" charset="0"/>
              </a:rPr>
              <a:pPr/>
              <a:t>22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Applying a Background Color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Table elements support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attribute. </a:t>
            </a:r>
          </a:p>
          <a:p>
            <a:pPr marL="0" indent="0" eaLnBrk="1" hangingPunct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specify a background color for all of the cells in a table, all of the cells in a row, or for individual cells, by adding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attribute to either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&lt;table&gt;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tags as follows:</a:t>
            </a:r>
          </a:p>
          <a:p>
            <a:pPr lvl="1" eaLnBrk="1" hangingPunct="1"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&lt;table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=“color”&gt;</a:t>
            </a:r>
          </a:p>
          <a:p>
            <a:pPr lvl="1" eaLnBrk="1" hangingPunct="1"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=“color”&gt;</a:t>
            </a:r>
          </a:p>
          <a:p>
            <a:pPr lvl="1" eaLnBrk="1" hangingPunct="1"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&lt;td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=“color”&gt;</a:t>
            </a:r>
          </a:p>
          <a:p>
            <a:pPr lvl="1" eaLnBrk="1" hangingPunct="1"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=“color”&gt;</a:t>
            </a:r>
          </a:p>
          <a:p>
            <a:pPr lvl="1" eaLnBrk="1" hangingPunct="1"/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either a color name or hexadecimal color value</a:t>
            </a:r>
          </a:p>
        </p:txBody>
      </p:sp>
    </p:spTree>
    <p:extLst>
      <p:ext uri="{BB962C8B-B14F-4D97-AF65-F5344CB8AC3E}">
        <p14:creationId xmlns:p14="http://schemas.microsoft.com/office/powerpoint/2010/main" xmlns="" val="307058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2C29670-651C-465E-953A-3780823C1A11}" type="slidenum">
              <a:rPr lang="en-US" smtClean="0">
                <a:latin typeface="Times New Roman" pitchFamily="100" charset="0"/>
              </a:rPr>
              <a:pPr/>
              <a:t>23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u="sng" dirty="0" err="1" smtClean="0">
                <a:latin typeface="Times New Roman" pitchFamily="18" charset="0"/>
                <a:cs typeface="Times New Roman" pitchFamily="18" charset="0"/>
              </a:rPr>
              <a:t>bordercolor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 Attribute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150225" cy="44116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default, table borders are displayed in two shades of gray that create a three-dimensional effect.  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syntax for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bordercolor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attribute is: </a:t>
            </a: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&lt;table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bordercolor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=“color”&gt;</a:t>
            </a:r>
          </a:p>
          <a:p>
            <a:pPr lvl="1" eaLnBrk="1" hangingPunct="1"/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an HTML color name or hexadecimal color value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Internet Explorer and Netscape apply this attribute differently.</a:t>
            </a:r>
          </a:p>
        </p:txBody>
      </p:sp>
      <p:pic>
        <p:nvPicPr>
          <p:cNvPr id="43013" name="Picture 5" descr="Fig04-43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800600"/>
            <a:ext cx="3429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4" name="Picture 6" descr="Fig04-43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4800600"/>
            <a:ext cx="3505200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1828800" y="4343400"/>
            <a:ext cx="594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&lt;table border=“10”  bordercolor=“blue”&gt;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524000" y="6019800"/>
            <a:ext cx="1924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000" b="1"/>
              <a:t>Internet Explorer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6324600" y="6019800"/>
            <a:ext cx="973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 b="1"/>
              <a:t>Netscape</a:t>
            </a:r>
          </a:p>
        </p:txBody>
      </p:sp>
    </p:spTree>
    <p:extLst>
      <p:ext uri="{BB962C8B-B14F-4D97-AF65-F5344CB8AC3E}">
        <p14:creationId xmlns:p14="http://schemas.microsoft.com/office/powerpoint/2010/main" xmlns="" val="21753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235BD25-2C59-4A4E-9EE7-FAA3D7AA4A0D}" type="slidenum">
              <a:rPr lang="en-US" smtClean="0">
                <a:latin typeface="Times New Roman" pitchFamily="100" charset="0"/>
              </a:rPr>
              <a:pPr/>
              <a:t>24</a:t>
            </a:fld>
            <a:endParaRPr lang="en-US" smtClean="0">
              <a:latin typeface="Times New Roman" pitchFamily="100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Applying a Table Background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1447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a background image to your tables using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attribute.</a:t>
            </a:r>
          </a:p>
          <a:p>
            <a:pPr eaLnBrk="1" hangingPunct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background can be applied to the entire table or to a cell.</a:t>
            </a:r>
          </a:p>
        </p:txBody>
      </p:sp>
      <p:pic>
        <p:nvPicPr>
          <p:cNvPr id="44037" name="Picture 5" descr="Fig04-46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2971800"/>
            <a:ext cx="9906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5029200" y="3352800"/>
            <a:ext cx="7350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/>
              <a:t>parch.jpg</a:t>
            </a:r>
          </a:p>
        </p:txBody>
      </p:sp>
      <p:pic>
        <p:nvPicPr>
          <p:cNvPr id="44039" name="Picture 7" descr="Fig04-46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4343400"/>
            <a:ext cx="2574925" cy="153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0" name="Picture 9" descr="Fig04-46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4343400"/>
            <a:ext cx="2573338" cy="153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41" name="Text Box 10"/>
          <p:cNvSpPr txBox="1">
            <a:spLocks noChangeArrowheads="1"/>
          </p:cNvSpPr>
          <p:nvPr/>
        </p:nvSpPr>
        <p:spPr bwMode="auto">
          <a:xfrm>
            <a:off x="1371600" y="6029325"/>
            <a:ext cx="31908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latin typeface="Courier New" pitchFamily="49" charset="0"/>
              </a:rPr>
              <a:t>&lt;table background=“parch.jpg”&gt;</a:t>
            </a:r>
          </a:p>
        </p:txBody>
      </p:sp>
      <p:sp>
        <p:nvSpPr>
          <p:cNvPr id="44042" name="Text Box 12"/>
          <p:cNvSpPr txBox="1">
            <a:spLocks noChangeArrowheads="1"/>
          </p:cNvSpPr>
          <p:nvPr/>
        </p:nvSpPr>
        <p:spPr bwMode="auto">
          <a:xfrm>
            <a:off x="5160963" y="6045200"/>
            <a:ext cx="28717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latin typeface="Courier New" pitchFamily="49" charset="0"/>
              </a:rPr>
              <a:t>&lt;td background=“parch.jpg”&gt;</a:t>
            </a:r>
          </a:p>
        </p:txBody>
      </p:sp>
      <p:sp>
        <p:nvSpPr>
          <p:cNvPr id="44043" name="Line 13"/>
          <p:cNvSpPr>
            <a:spLocks noChangeShapeType="1"/>
          </p:cNvSpPr>
          <p:nvPr/>
        </p:nvSpPr>
        <p:spPr bwMode="auto">
          <a:xfrm flipV="1">
            <a:off x="2667000" y="5876925"/>
            <a:ext cx="0" cy="152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44" name="Line 15"/>
          <p:cNvSpPr>
            <a:spLocks noChangeShapeType="1"/>
          </p:cNvSpPr>
          <p:nvPr/>
        </p:nvSpPr>
        <p:spPr bwMode="auto">
          <a:xfrm flipV="1">
            <a:off x="6380163" y="5876925"/>
            <a:ext cx="0" cy="152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181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1328</Words>
  <Application>Microsoft Office PowerPoint</Application>
  <PresentationFormat>On-screen Show (4:3)</PresentationFormat>
  <Paragraphs>248</Paragraphs>
  <Slides>24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Bitmap Image</vt:lpstr>
      <vt:lpstr>Using HTML Tables</vt:lpstr>
      <vt:lpstr>Slide 2</vt:lpstr>
      <vt:lpstr>Defining a Table Structure</vt:lpstr>
      <vt:lpstr>The General Table Structure</vt:lpstr>
      <vt:lpstr>HTML Structure of a Table</vt:lpstr>
      <vt:lpstr>Adding Table Headings to the Table</vt:lpstr>
      <vt:lpstr>Using the &lt;table&gt;, &lt;tr&gt;, &lt;td&gt;and &lt;th&gt; Tags</vt:lpstr>
      <vt:lpstr>Table Caption</vt:lpstr>
      <vt:lpstr>Creating a Table Caption</vt:lpstr>
      <vt:lpstr>Tables with Different Borders Values</vt:lpstr>
      <vt:lpstr>Adding a Table Border</vt:lpstr>
      <vt:lpstr>Cell Spacing and Padding</vt:lpstr>
      <vt:lpstr>Tables with Different Cell Spacing &amp; Cell Padding Values</vt:lpstr>
      <vt:lpstr>Defining Cell Padding &amp; Cell Spacing</vt:lpstr>
      <vt:lpstr>Table attributes</vt:lpstr>
      <vt:lpstr>Table Width and Height</vt:lpstr>
      <vt:lpstr>Values of the Align &amp; Valign Attributes</vt:lpstr>
      <vt:lpstr>Aligning a Table on the Web Page</vt:lpstr>
      <vt:lpstr>Slide 19</vt:lpstr>
      <vt:lpstr>Column and Row Span – Example - 2</vt:lpstr>
      <vt:lpstr>Spanning Rows and Columns</vt:lpstr>
      <vt:lpstr>Applying a Background Color</vt:lpstr>
      <vt:lpstr>The bordercolor Attribute</vt:lpstr>
      <vt:lpstr>Applying a Table Background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HTML Tables</dc:title>
  <dc:creator>LALITA</dc:creator>
  <cp:lastModifiedBy>A</cp:lastModifiedBy>
  <cp:revision>11</cp:revision>
  <dcterms:created xsi:type="dcterms:W3CDTF">2006-08-16T00:00:00Z</dcterms:created>
  <dcterms:modified xsi:type="dcterms:W3CDTF">2015-07-10T09:39:17Z</dcterms:modified>
</cp:coreProperties>
</file>