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1" r:id="rId3"/>
    <p:sldId id="279" r:id="rId4"/>
    <p:sldId id="280" r:id="rId5"/>
    <p:sldId id="281" r:id="rId6"/>
    <p:sldId id="282" r:id="rId7"/>
    <p:sldId id="283" r:id="rId8"/>
    <p:sldId id="262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8" r:id="rId18"/>
    <p:sldId id="269" r:id="rId19"/>
    <p:sldId id="270" r:id="rId20"/>
    <p:sldId id="263" r:id="rId21"/>
    <p:sldId id="264" r:id="rId22"/>
    <p:sldId id="265" r:id="rId23"/>
    <p:sldId id="266" r:id="rId24"/>
    <p:sldId id="267" r:id="rId25"/>
    <p:sldId id="257" r:id="rId26"/>
    <p:sldId id="258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55" autoAdjust="0"/>
  </p:normalViewPr>
  <p:slideViewPr>
    <p:cSldViewPr snapToGrid="0">
      <p:cViewPr varScale="1">
        <p:scale>
          <a:sx n="69" d="100"/>
          <a:sy n="69" d="100"/>
        </p:scale>
        <p:origin x="-78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82C62-87DD-4F8E-A27D-3F5B31DA1B4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D8D2A-4EC5-4332-A614-3871FDE3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1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685672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665121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90245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5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4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8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0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2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8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75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5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63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4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4CCA3-C48C-40F0-BA45-E068E74A9785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D1E38-1A4E-4F55-8E22-26170684E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1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c.liv.ac.uk/~martin/teaching/comp519/HTML/page07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c.liv.ac.uk/~martin/teaching/comp519/HTML/page08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c.liv.ac.uk/~martin/teaching/comp519/HTML/page09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68491"/>
            <a:ext cx="9144000" cy="846160"/>
          </a:xfrm>
        </p:spPr>
        <p:txBody>
          <a:bodyPr>
            <a:normAutofit fontScale="90000"/>
          </a:bodyPr>
          <a:lstStyle/>
          <a:p>
            <a:pPr algn="l"/>
            <a:r>
              <a:rPr kumimoji="1" lang="en-US" dirty="0" smtClean="0">
                <a:solidFill>
                  <a:srgbClr val="FF0000"/>
                </a:solidFill>
              </a:rPr>
              <a:t>HTML Lists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23834"/>
            <a:ext cx="9144000" cy="4981432"/>
          </a:xfrm>
        </p:spPr>
        <p:txBody>
          <a:bodyPr/>
          <a:lstStyle/>
          <a:p>
            <a:pPr marL="342900" lvl="0" indent="-342900" algn="l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</a:rPr>
              <a:t>HTML Lists are used to specify lists of information. All lists may contain one or more list elements.</a:t>
            </a:r>
          </a:p>
          <a:p>
            <a:pPr marL="342900" lvl="0" indent="-342900" algn="l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</a:rPr>
              <a:t>There are three different types of HTML lists:</a:t>
            </a:r>
          </a:p>
          <a:p>
            <a:pPr marL="342900" lvl="0" indent="-342900" algn="l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endParaRPr lang="en-US" sz="3200" dirty="0" smtClean="0">
              <a:solidFill>
                <a:schemeClr val="tx1">
                  <a:lumMod val="95000"/>
                  <a:lumOff val="5000"/>
                </a:schemeClr>
              </a:solidFill>
              <a:latin typeface="Times" panose="02020603050405020304" pitchFamily="18" charset="0"/>
            </a:endParaRPr>
          </a:p>
          <a:p>
            <a:pPr marL="342900" indent="-342900" algn="l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sz="3200" b="1" dirty="0" smtClean="0">
                <a:solidFill>
                  <a:srgbClr val="C00000"/>
                </a:solidFill>
                <a:latin typeface="Times" panose="02020603050405020304" pitchFamily="18" charset="0"/>
              </a:rPr>
              <a:t>Unordered List or Bulleted List (</a:t>
            </a:r>
            <a:r>
              <a:rPr lang="en-US" sz="3200" b="1" dirty="0" err="1" smtClean="0">
                <a:solidFill>
                  <a:srgbClr val="C00000"/>
                </a:solidFill>
                <a:latin typeface="Times" panose="02020603050405020304" pitchFamily="18" charset="0"/>
              </a:rPr>
              <a:t>ul</a:t>
            </a:r>
            <a:r>
              <a:rPr lang="en-US" sz="3200" b="1" dirty="0" smtClean="0">
                <a:solidFill>
                  <a:srgbClr val="C00000"/>
                </a:solidFill>
                <a:latin typeface="Times" panose="02020603050405020304" pitchFamily="18" charset="0"/>
              </a:rPr>
              <a:t>)</a:t>
            </a:r>
          </a:p>
          <a:p>
            <a:pPr marL="342900" lvl="0" indent="-342900" algn="l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sz="3200" b="1" dirty="0" smtClean="0">
                <a:solidFill>
                  <a:srgbClr val="C00000"/>
                </a:solidFill>
                <a:latin typeface="Times" panose="02020603050405020304" pitchFamily="18" charset="0"/>
              </a:rPr>
              <a:t>Ordered List or Numbered List (</a:t>
            </a:r>
            <a:r>
              <a:rPr lang="en-US" sz="3200" b="1" dirty="0" err="1" smtClean="0">
                <a:solidFill>
                  <a:srgbClr val="C00000"/>
                </a:solidFill>
                <a:latin typeface="Times" panose="02020603050405020304" pitchFamily="18" charset="0"/>
              </a:rPr>
              <a:t>ol</a:t>
            </a:r>
            <a:r>
              <a:rPr lang="en-US" sz="3200" b="1" dirty="0" smtClean="0">
                <a:solidFill>
                  <a:srgbClr val="C00000"/>
                </a:solidFill>
                <a:latin typeface="Times" panose="02020603050405020304" pitchFamily="18" charset="0"/>
              </a:rPr>
              <a:t>)</a:t>
            </a:r>
          </a:p>
          <a:p>
            <a:pPr marL="342900" lvl="0" indent="-342900" algn="l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sz="3200" b="1" dirty="0" smtClean="0">
                <a:solidFill>
                  <a:srgbClr val="C00000"/>
                </a:solidFill>
                <a:latin typeface="Times" panose="02020603050405020304" pitchFamily="18" charset="0"/>
              </a:rPr>
              <a:t>Description List or Definition List (dl)</a:t>
            </a:r>
            <a:endParaRPr lang="en-US" sz="2800" b="1" dirty="0">
              <a:solidFill>
                <a:srgbClr val="C00000"/>
              </a:solidFill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sz="36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Unordered list: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/>
              <a:t>HTML Unordered List</a:t>
            </a:r>
            <a:r>
              <a:rPr lang="en-US" dirty="0"/>
              <a:t> or Bulleted List displays elements in bulleted format. The HTML </a:t>
            </a:r>
            <a:r>
              <a:rPr lang="en-US" dirty="0" err="1"/>
              <a:t>ul</a:t>
            </a:r>
            <a:r>
              <a:rPr lang="en-US" dirty="0"/>
              <a:t> tag is used for the unordered list. There can be 4 types of bulleted list:</a:t>
            </a:r>
          </a:p>
          <a:p>
            <a:r>
              <a:rPr lang="en-US" dirty="0"/>
              <a:t>square</a:t>
            </a:r>
          </a:p>
          <a:p>
            <a:r>
              <a:rPr lang="en-US" dirty="0" smtClean="0"/>
              <a:t>Circle</a:t>
            </a:r>
          </a:p>
          <a:p>
            <a:r>
              <a:rPr lang="en-US" dirty="0" smtClean="0"/>
              <a:t>disc</a:t>
            </a:r>
            <a:endParaRPr lang="en-US" dirty="0"/>
          </a:p>
          <a:p>
            <a:r>
              <a:rPr lang="en-US" dirty="0" smtClean="0"/>
              <a:t>none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38325"/>
            <a:ext cx="51816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1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To represent different ordered lists, there are 4 types of attributes in &lt;</a:t>
            </a:r>
            <a:r>
              <a:rPr lang="en-US" sz="3600" dirty="0" err="1" smtClean="0">
                <a:solidFill>
                  <a:srgbClr val="FF0000"/>
                </a:solidFill>
              </a:rPr>
              <a:t>ul</a:t>
            </a:r>
            <a:r>
              <a:rPr lang="en-US" sz="3600" dirty="0" smtClean="0">
                <a:solidFill>
                  <a:srgbClr val="FF0000"/>
                </a:solidFill>
              </a:rPr>
              <a:t>&gt; tag.</a:t>
            </a:r>
            <a:endParaRPr lang="en-US" sz="36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1245461"/>
              </p:ext>
            </p:extLst>
          </p:nvPr>
        </p:nvGraphicFramePr>
        <p:xfrm>
          <a:off x="838197" y="1869744"/>
          <a:ext cx="10515602" cy="4462816"/>
        </p:xfrm>
        <a:graphic>
          <a:graphicData uri="http://schemas.openxmlformats.org/drawingml/2006/table">
            <a:tbl>
              <a:tblPr/>
              <a:tblGrid>
                <a:gridCol w="5257801"/>
                <a:gridCol w="5257801"/>
              </a:tblGrid>
              <a:tr h="51230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10A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A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A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10A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A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A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1272827">
                <a:tc>
                  <a:txBody>
                    <a:bodyPr/>
                    <a:lstStyle/>
                    <a:p>
                      <a:pPr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Type "disc"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This is the default style. In this style, the list items are marked with bullets.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2563">
                <a:tc>
                  <a:txBody>
                    <a:bodyPr/>
                    <a:lstStyle/>
                    <a:p>
                      <a:pPr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Type "circle"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 this style, the list items are marked with circles.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892563">
                <a:tc>
                  <a:txBody>
                    <a:bodyPr/>
                    <a:lstStyle/>
                    <a:p>
                      <a:pPr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Type "square"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 this style, the list items are marked with squares.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2563">
                <a:tc>
                  <a:txBody>
                    <a:bodyPr/>
                    <a:lstStyle/>
                    <a:p>
                      <a:pPr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Type "none"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 this style, the list items are not marked 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38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HTML Unordered List Example: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&lt;ul&gt;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&lt;/ul&gt;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0" i="0" dirty="0" smtClean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Output: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73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ul</a:t>
            </a:r>
            <a:r>
              <a:rPr lang="en-US" dirty="0" smtClean="0">
                <a:solidFill>
                  <a:srgbClr val="FF0000"/>
                </a:solidFill>
              </a:rPr>
              <a:t> type="circle"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&lt;ul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0" i="0" dirty="0" smtClean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type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=</a:t>
            </a:r>
            <a:r>
              <a:rPr lang="it-IT" b="0" i="0" dirty="0" smtClean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"circle"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&lt;/ul&gt;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0" i="0" dirty="0" smtClean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Output: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74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ul</a:t>
            </a:r>
            <a:r>
              <a:rPr lang="en-US" dirty="0" smtClean="0">
                <a:solidFill>
                  <a:srgbClr val="FF0000"/>
                </a:solidFill>
              </a:rPr>
              <a:t> type="square"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&lt;ul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0" i="0" dirty="0" smtClean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type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=</a:t>
            </a:r>
            <a:r>
              <a:rPr lang="it-IT" b="0" i="0" dirty="0" smtClean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"square"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&lt;/ul&gt;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Output: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HTML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Java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JavaScript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88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ul</a:t>
            </a:r>
            <a:r>
              <a:rPr lang="en-US" dirty="0" smtClean="0">
                <a:solidFill>
                  <a:srgbClr val="FF0000"/>
                </a:solidFill>
              </a:rPr>
              <a:t> type="none"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&lt;ul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0" i="0" dirty="0" smtClean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type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=</a:t>
            </a:r>
            <a:r>
              <a:rPr lang="it-IT" b="0" i="0" dirty="0" smtClean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"none"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&lt;/ul&gt;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endParaRPr lang="it-IT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Output:</a:t>
            </a:r>
          </a:p>
          <a:p>
            <a:pPr marL="0" indent="0">
              <a:buNone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</a:p>
          <a:p>
            <a:pPr marL="0" indent="0">
              <a:buNone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</a:p>
          <a:p>
            <a:pPr marL="0" indent="0">
              <a:buNone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</a:p>
          <a:p>
            <a:pPr marL="0" indent="0">
              <a:buNone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45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sz="36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Ordered list: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200" b="1" dirty="0"/>
              <a:t>HTML Ordered List</a:t>
            </a:r>
            <a:r>
              <a:rPr lang="en-US" sz="3200" dirty="0"/>
              <a:t> or Numbered List displays elements in numbered format. The HTML </a:t>
            </a:r>
            <a:r>
              <a:rPr lang="en-US" sz="3200" dirty="0" err="1"/>
              <a:t>ol</a:t>
            </a:r>
            <a:r>
              <a:rPr lang="en-US" sz="3200" dirty="0"/>
              <a:t> tag is used for ordered list. There can be different types of numbered list:</a:t>
            </a:r>
          </a:p>
          <a:p>
            <a:r>
              <a:rPr lang="en-US" sz="3200" dirty="0"/>
              <a:t>Numeric Number (1, 2, 3)</a:t>
            </a:r>
          </a:p>
          <a:p>
            <a:r>
              <a:rPr lang="en-US" sz="3200" dirty="0"/>
              <a:t>Capital Roman Number (I II III)</a:t>
            </a:r>
          </a:p>
          <a:p>
            <a:r>
              <a:rPr lang="en-US" sz="3200" dirty="0"/>
              <a:t>Small </a:t>
            </a:r>
            <a:r>
              <a:rPr lang="en-US" sz="3200" dirty="0" err="1"/>
              <a:t>Romal</a:t>
            </a:r>
            <a:r>
              <a:rPr lang="en-US" sz="3200" dirty="0"/>
              <a:t> Number (</a:t>
            </a:r>
            <a:r>
              <a:rPr lang="en-US" sz="3200" dirty="0" err="1"/>
              <a:t>i</a:t>
            </a:r>
            <a:r>
              <a:rPr lang="en-US" sz="3200" dirty="0"/>
              <a:t> ii iii)</a:t>
            </a:r>
          </a:p>
          <a:p>
            <a:r>
              <a:rPr lang="en-US" sz="3200" dirty="0"/>
              <a:t>Capital Alphabet (A B C)</a:t>
            </a:r>
          </a:p>
          <a:p>
            <a:r>
              <a:rPr lang="en-US" sz="3200" dirty="0"/>
              <a:t>Small Alphabet (a b c)</a:t>
            </a:r>
          </a:p>
          <a:p>
            <a:r>
              <a:rPr lang="en-US" sz="3200" dirty="0"/>
              <a:t>To represent different ordered lists, there are 5 types of attributes in &lt;</a:t>
            </a:r>
            <a:r>
              <a:rPr lang="en-US" sz="3200" dirty="0" err="1"/>
              <a:t>ol</a:t>
            </a:r>
            <a:r>
              <a:rPr lang="en-US" sz="3200" dirty="0"/>
              <a:t>&gt; tag.</a:t>
            </a: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None/>
            </a:pPr>
            <a:endParaRPr lang="en-US" sz="2800" dirty="0">
              <a:solidFill>
                <a:srgbClr val="FFCC00"/>
              </a:solidFill>
              <a:latin typeface="Times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77970" y="1825625"/>
            <a:ext cx="5404514" cy="48138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50924" y="2828836"/>
            <a:ext cx="25930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FFFFF"/>
                </a:solidFill>
                <a:latin typeface="Arial Narrow" panose="020B0606020202030204" pitchFamily="34" charset="0"/>
                <a:ea typeface="Osaka" pitchFamily="-60" charset="-128"/>
              </a:rPr>
              <a:t>Fruit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sz="2400" dirty="0" smtClean="0">
                <a:solidFill>
                  <a:srgbClr val="FFFFFF"/>
                </a:solidFill>
                <a:latin typeface="Arial Narrow" panose="020B0606020202030204" pitchFamily="34" charset="0"/>
                <a:ea typeface="Osaka" pitchFamily="-60" charset="-128"/>
              </a:rPr>
              <a:t>e</a:t>
            </a:r>
            <a:endParaRPr lang="en-US" sz="2400" dirty="0">
              <a:solidFill>
                <a:srgbClr val="FFFFFF"/>
              </a:solidFill>
              <a:latin typeface="Arial Narrow" panose="020B0606020202030204" pitchFamily="34" charset="0"/>
              <a:ea typeface="Osaka" pitchFamily="-6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272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To represent different ordered lists, there are 5 types of attributes in &lt;</a:t>
            </a:r>
            <a:r>
              <a:rPr lang="en-US" sz="3600" dirty="0" err="1">
                <a:solidFill>
                  <a:srgbClr val="FF0000"/>
                </a:solidFill>
              </a:rPr>
              <a:t>ol</a:t>
            </a:r>
            <a:r>
              <a:rPr lang="en-US" sz="3600" dirty="0">
                <a:solidFill>
                  <a:srgbClr val="FF0000"/>
                </a:solidFill>
              </a:rPr>
              <a:t>&gt; tag.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3833482"/>
              </p:ext>
            </p:extLst>
          </p:nvPr>
        </p:nvGraphicFramePr>
        <p:xfrm>
          <a:off x="395782" y="1905240"/>
          <a:ext cx="11409530" cy="4664965"/>
        </p:xfrm>
        <a:graphic>
          <a:graphicData uri="http://schemas.openxmlformats.org/drawingml/2006/table">
            <a:tbl>
              <a:tblPr/>
              <a:tblGrid>
                <a:gridCol w="5704765"/>
                <a:gridCol w="5704765"/>
              </a:tblGrid>
              <a:tr h="36262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78A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A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A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78A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A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A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859341"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Type "1"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This is the default type. In this type, the list items are numbered with numbers.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341"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Type "I"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 this type, the list items are numbered with upper case roman numbers.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859341"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Type "i"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 this type, the list items are numbered with lower case roman numbers.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341"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Type "A"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 this type, the list items are numbered with upper case letters.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859341"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Type "a"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 this type, the list items are numbered with lower case letters.</a:t>
                      </a:r>
                    </a:p>
                  </a:txBody>
                  <a:tcPr marL="46970" marR="46970" marT="46970" marB="4697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6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HTML Ordered List Example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&lt;ol&gt;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HTML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Java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JavaScript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SQL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b="1" dirty="0"/>
              <a:t>&lt;/ol&gt;</a:t>
            </a:r>
            <a:r>
              <a:rPr lang="it-IT" dirty="0"/>
              <a:t> 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0" i="0" dirty="0" smtClean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Output:</a:t>
            </a:r>
          </a:p>
          <a:p>
            <a:pPr>
              <a:buFont typeface="+mj-lt"/>
              <a:buAutoNum type="arabi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</a:p>
          <a:p>
            <a:pPr>
              <a:buFont typeface="+mj-lt"/>
              <a:buAutoNum type="arabi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</a:p>
          <a:p>
            <a:pPr>
              <a:buFont typeface="+mj-lt"/>
              <a:buAutoNum type="arabi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</a:p>
          <a:p>
            <a:pPr>
              <a:buFont typeface="+mj-lt"/>
              <a:buAutoNum type="arabi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27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9558"/>
            <a:ext cx="10515600" cy="116006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ol</a:t>
            </a:r>
            <a:r>
              <a:rPr lang="en-US" dirty="0">
                <a:solidFill>
                  <a:srgbClr val="FF0000"/>
                </a:solidFill>
              </a:rPr>
              <a:t> type="I"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&lt;ol</a:t>
            </a:r>
            <a:r>
              <a:rPr lang="it-IT" dirty="0"/>
              <a:t> type="I"</a:t>
            </a:r>
            <a:r>
              <a:rPr lang="it-IT" b="1" dirty="0"/>
              <a:t>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HTML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Java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JavaScript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SQL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b="1" dirty="0"/>
              <a:t>&lt;/ol&gt;</a:t>
            </a:r>
            <a:r>
              <a:rPr lang="it-IT" dirty="0"/>
              <a:t> 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Output</a:t>
            </a:r>
          </a:p>
          <a:p>
            <a:pPr>
              <a:buFont typeface="+mj-lt"/>
              <a:buAutoNum type="romanU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</a:p>
          <a:p>
            <a:pPr>
              <a:buFont typeface="+mj-lt"/>
              <a:buAutoNum type="romanU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</a:p>
          <a:p>
            <a:pPr>
              <a:buFont typeface="+mj-lt"/>
              <a:buAutoNum type="romanU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</a:p>
          <a:p>
            <a:pPr>
              <a:buFont typeface="+mj-lt"/>
              <a:buAutoNum type="romanU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36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ol</a:t>
            </a:r>
            <a:r>
              <a:rPr lang="en-US" dirty="0" smtClean="0">
                <a:solidFill>
                  <a:srgbClr val="FF0000"/>
                </a:solidFill>
              </a:rPr>
              <a:t> type="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&lt;ol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0" i="0" dirty="0" smtClean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type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=</a:t>
            </a:r>
            <a:r>
              <a:rPr lang="it-IT" b="0" i="0" dirty="0" smtClean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"i"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&lt;/ol&gt;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Output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+mj-lt"/>
              <a:buAutoNum type="romanL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</a:p>
          <a:p>
            <a:pPr>
              <a:buFont typeface="+mj-lt"/>
              <a:buAutoNum type="romanL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</a:p>
          <a:p>
            <a:pPr>
              <a:buFont typeface="+mj-lt"/>
              <a:buAutoNum type="romanL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</a:p>
          <a:p>
            <a:pPr>
              <a:buFont typeface="+mj-lt"/>
              <a:buAutoNum type="romanL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66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ol</a:t>
            </a:r>
            <a:r>
              <a:rPr lang="en-US" dirty="0" smtClean="0">
                <a:solidFill>
                  <a:srgbClr val="FF0000"/>
                </a:solidFill>
              </a:rPr>
              <a:t> type="A"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&lt;ol</a:t>
            </a:r>
            <a:r>
              <a:rPr lang="it-IT" dirty="0"/>
              <a:t> type="A"</a:t>
            </a:r>
            <a:r>
              <a:rPr lang="it-IT" b="1" dirty="0"/>
              <a:t>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HTML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Java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JavaScript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SQL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b="1" dirty="0"/>
              <a:t>&lt;/ol&gt;</a:t>
            </a:r>
            <a:r>
              <a:rPr lang="it-IT" dirty="0"/>
              <a:t> 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Output:</a:t>
            </a:r>
          </a:p>
          <a:p>
            <a:pPr>
              <a:buFont typeface="+mj-lt"/>
              <a:buAutoNum type="alphaU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</a:p>
          <a:p>
            <a:pPr>
              <a:buFont typeface="+mj-lt"/>
              <a:buAutoNum type="alphaU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</a:p>
          <a:p>
            <a:pPr>
              <a:buFont typeface="+mj-lt"/>
              <a:buAutoNum type="alphaU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</a:p>
          <a:p>
            <a:pPr>
              <a:buFont typeface="+mj-lt"/>
              <a:buAutoNum type="alphaU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65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ol</a:t>
            </a:r>
            <a:r>
              <a:rPr lang="en-US" dirty="0" smtClean="0">
                <a:solidFill>
                  <a:srgbClr val="FF0000"/>
                </a:solidFill>
              </a:rPr>
              <a:t> type="a"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&lt;ol</a:t>
            </a:r>
            <a:r>
              <a:rPr lang="it-IT" dirty="0"/>
              <a:t> type="a"</a:t>
            </a:r>
            <a:r>
              <a:rPr lang="it-IT" b="1" dirty="0"/>
              <a:t>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HTML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Java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JavaScript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dirty="0"/>
              <a:t> </a:t>
            </a:r>
            <a:r>
              <a:rPr lang="it-IT" b="1" dirty="0"/>
              <a:t>&lt;li&gt;</a:t>
            </a:r>
            <a:r>
              <a:rPr lang="it-IT" dirty="0"/>
              <a:t>SQL</a:t>
            </a:r>
            <a:r>
              <a:rPr lang="it-IT" b="1" dirty="0"/>
              <a:t>&lt;/li&gt;</a:t>
            </a:r>
            <a:r>
              <a:rPr lang="it-IT" dirty="0"/>
              <a:t>  </a:t>
            </a:r>
          </a:p>
          <a:p>
            <a:pPr marL="0" indent="0">
              <a:buNone/>
            </a:pPr>
            <a:r>
              <a:rPr lang="it-IT" b="1" dirty="0"/>
              <a:t>&lt;/ol&gt;</a:t>
            </a:r>
            <a:r>
              <a:rPr lang="it-IT" dirty="0"/>
              <a:t> 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Output:</a:t>
            </a:r>
          </a:p>
          <a:p>
            <a:pPr>
              <a:buFont typeface="+mj-lt"/>
              <a:buAutoNum type="alphaL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</a:p>
          <a:p>
            <a:pPr>
              <a:buFont typeface="+mj-lt"/>
              <a:buAutoNum type="alphaL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</a:p>
          <a:p>
            <a:pPr>
              <a:buFont typeface="+mj-lt"/>
              <a:buAutoNum type="alphaL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</a:p>
          <a:p>
            <a:pPr>
              <a:buFont typeface="+mj-lt"/>
              <a:buAutoNum type="alphaLcPeriod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17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start attribute: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52919"/>
            <a:ext cx="10515600" cy="4698005"/>
          </a:xfrm>
        </p:spPr>
        <p:txBody>
          <a:bodyPr>
            <a:normAutofit/>
          </a:bodyPr>
          <a:lstStyle/>
          <a:p>
            <a:r>
              <a:rPr lang="en-US" sz="2700" dirty="0"/>
              <a:t>The start attribute is used with </a:t>
            </a:r>
            <a:r>
              <a:rPr lang="en-US" sz="2700" dirty="0" err="1"/>
              <a:t>ol</a:t>
            </a:r>
            <a:r>
              <a:rPr lang="en-US" sz="2700" dirty="0"/>
              <a:t> tag to specify from where to start the list items.</a:t>
            </a:r>
          </a:p>
          <a:p>
            <a:r>
              <a:rPr lang="en-US" sz="2700" b="1" dirty="0"/>
              <a:t>&lt;</a:t>
            </a:r>
            <a:r>
              <a:rPr lang="en-US" sz="2700" b="1" dirty="0" err="1"/>
              <a:t>ol</a:t>
            </a:r>
            <a:r>
              <a:rPr lang="en-US" sz="2700" b="1" dirty="0"/>
              <a:t> type="1" start="5"&gt;</a:t>
            </a:r>
            <a:r>
              <a:rPr lang="en-US" sz="2700" dirty="0"/>
              <a:t> : It will show numeric values starting with "5".</a:t>
            </a:r>
          </a:p>
          <a:p>
            <a:r>
              <a:rPr lang="en-US" sz="2700" b="1" dirty="0"/>
              <a:t>&lt;</a:t>
            </a:r>
            <a:r>
              <a:rPr lang="en-US" sz="2700" b="1" dirty="0" err="1"/>
              <a:t>ol</a:t>
            </a:r>
            <a:r>
              <a:rPr lang="en-US" sz="2700" b="1" dirty="0"/>
              <a:t> type="A" start="5"&gt;</a:t>
            </a:r>
            <a:r>
              <a:rPr lang="en-US" sz="2700" dirty="0"/>
              <a:t> : It will show capital alphabets starting with "E".</a:t>
            </a:r>
          </a:p>
          <a:p>
            <a:r>
              <a:rPr lang="en-US" sz="2700" b="1" dirty="0"/>
              <a:t>&lt;</a:t>
            </a:r>
            <a:r>
              <a:rPr lang="en-US" sz="2700" b="1" dirty="0" err="1"/>
              <a:t>ol</a:t>
            </a:r>
            <a:r>
              <a:rPr lang="en-US" sz="2700" b="1" dirty="0"/>
              <a:t> type="a" start="5"&gt;</a:t>
            </a:r>
            <a:r>
              <a:rPr lang="en-US" sz="2700" dirty="0"/>
              <a:t> : It will show lower case alphabets starting with "e".</a:t>
            </a:r>
          </a:p>
          <a:p>
            <a:r>
              <a:rPr lang="en-US" sz="2700" b="1" dirty="0"/>
              <a:t>&lt;</a:t>
            </a:r>
            <a:r>
              <a:rPr lang="en-US" sz="2700" b="1" dirty="0" err="1"/>
              <a:t>ol</a:t>
            </a:r>
            <a:r>
              <a:rPr lang="en-US" sz="2700" b="1" dirty="0"/>
              <a:t> type="I" start="5"&gt;</a:t>
            </a:r>
            <a:r>
              <a:rPr lang="en-US" sz="2700" dirty="0"/>
              <a:t> : It will show Roman upper case value starting with "V".</a:t>
            </a:r>
          </a:p>
          <a:p>
            <a:r>
              <a:rPr lang="en-US" sz="2700" b="1" dirty="0"/>
              <a:t>&lt;</a:t>
            </a:r>
            <a:r>
              <a:rPr lang="en-US" sz="2700" b="1" dirty="0" err="1"/>
              <a:t>ol</a:t>
            </a:r>
            <a:r>
              <a:rPr lang="en-US" sz="2700" b="1" dirty="0"/>
              <a:t> type="</a:t>
            </a:r>
            <a:r>
              <a:rPr lang="en-US" sz="2700" b="1" dirty="0" err="1"/>
              <a:t>i</a:t>
            </a:r>
            <a:r>
              <a:rPr lang="en-US" sz="2700" b="1" dirty="0"/>
              <a:t>" start="5"&gt;</a:t>
            </a:r>
            <a:r>
              <a:rPr lang="en-US" sz="2700" dirty="0"/>
              <a:t> : It will show Roman lower case value starting with "v".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36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Example: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&lt;ol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0" i="0" dirty="0" smtClean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type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=</a:t>
            </a:r>
            <a:r>
              <a:rPr lang="it-IT" b="0" i="0" dirty="0" smtClean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"i"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0" i="0" dirty="0" smtClean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start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=</a:t>
            </a:r>
            <a:r>
              <a:rPr lang="it-IT" b="0" i="0" dirty="0" smtClean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"5"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&lt;/li&gt;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r>
              <a:rPr lang="it-IT" b="1" i="0" dirty="0" smtClean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&lt;/ol&gt;</a:t>
            </a:r>
            <a:r>
              <a:rPr lang="it-IT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Output:</a:t>
            </a:r>
          </a:p>
          <a:p>
            <a:pPr>
              <a:buFont typeface="+mj-lt"/>
              <a:buAutoNum type="romanLcPeriod" startAt="5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</a:t>
            </a:r>
          </a:p>
          <a:p>
            <a:pPr>
              <a:buFont typeface="+mj-lt"/>
              <a:buAutoNum type="romanLcPeriod" startAt="5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</a:t>
            </a:r>
          </a:p>
          <a:p>
            <a:pPr>
              <a:buFont typeface="+mj-lt"/>
              <a:buAutoNum type="romanLcPeriod" startAt="5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JavaScript</a:t>
            </a:r>
          </a:p>
          <a:p>
            <a:pPr>
              <a:buFont typeface="+mj-lt"/>
              <a:buAutoNum type="romanLcPeriod" startAt="5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SQL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83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HTML Description List or Definition List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HTML Description list is also a list style which is supported by HTML and XHTML. </a:t>
            </a:r>
          </a:p>
          <a:p>
            <a:pPr algn="just"/>
            <a:r>
              <a:rPr lang="en-US" dirty="0" smtClean="0"/>
              <a:t>It is also known as definition list where entries are listed like a dictionary or encyclopedia.</a:t>
            </a:r>
          </a:p>
          <a:p>
            <a:pPr algn="just"/>
            <a:r>
              <a:rPr lang="en-US" dirty="0"/>
              <a:t>The definition list is very appropriate when you want to present glossary, list of terms or other name-value list.</a:t>
            </a:r>
          </a:p>
          <a:p>
            <a:pPr algn="just"/>
            <a:r>
              <a:rPr lang="en-US" dirty="0"/>
              <a:t>The HTML definition list contains following three tags:</a:t>
            </a:r>
          </a:p>
          <a:p>
            <a:pPr algn="just"/>
            <a:r>
              <a:rPr lang="en-US" b="1" dirty="0"/>
              <a:t>&lt;dl&gt; tag</a:t>
            </a:r>
            <a:r>
              <a:rPr lang="en-US" dirty="0"/>
              <a:t> defines the start of the list.</a:t>
            </a:r>
          </a:p>
          <a:p>
            <a:pPr algn="just"/>
            <a:r>
              <a:rPr lang="en-US" b="1" dirty="0"/>
              <a:t>&lt;</a:t>
            </a:r>
            <a:r>
              <a:rPr lang="en-US" b="1" dirty="0" err="1"/>
              <a:t>dt</a:t>
            </a:r>
            <a:r>
              <a:rPr lang="en-US" b="1" dirty="0"/>
              <a:t>&gt; tag</a:t>
            </a:r>
            <a:r>
              <a:rPr lang="en-US" dirty="0"/>
              <a:t> defines a term.</a:t>
            </a:r>
          </a:p>
          <a:p>
            <a:pPr algn="just"/>
            <a:r>
              <a:rPr lang="en-US" b="1" dirty="0"/>
              <a:t>&lt;</a:t>
            </a:r>
            <a:r>
              <a:rPr lang="en-US" b="1" dirty="0" err="1"/>
              <a:t>dd</a:t>
            </a:r>
            <a:r>
              <a:rPr lang="en-US" b="1" dirty="0"/>
              <a:t>&gt; tag</a:t>
            </a:r>
            <a:r>
              <a:rPr lang="en-US" dirty="0"/>
              <a:t> defines the term definition (description).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690688"/>
            <a:ext cx="5786651" cy="487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0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Example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&lt;dl&gt;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b="1" dirty="0"/>
              <a:t>&lt;</a:t>
            </a:r>
            <a:r>
              <a:rPr lang="en-US" b="1" dirty="0" err="1"/>
              <a:t>dt</a:t>
            </a:r>
            <a:r>
              <a:rPr lang="en-US" b="1" dirty="0"/>
              <a:t>&gt;</a:t>
            </a:r>
            <a:r>
              <a:rPr lang="en-US" dirty="0"/>
              <a:t>Aries</a:t>
            </a:r>
            <a:r>
              <a:rPr lang="en-US" b="1" dirty="0"/>
              <a:t>&lt;/</a:t>
            </a:r>
            <a:r>
              <a:rPr lang="en-US" b="1" dirty="0" err="1"/>
              <a:t>dt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b="1" dirty="0"/>
              <a:t>&lt;</a:t>
            </a:r>
            <a:r>
              <a:rPr lang="en-US" b="1" dirty="0" err="1"/>
              <a:t>dd</a:t>
            </a:r>
            <a:r>
              <a:rPr lang="en-US" b="1" dirty="0"/>
              <a:t>&gt;</a:t>
            </a:r>
            <a:r>
              <a:rPr lang="en-US" dirty="0"/>
              <a:t>-One of the 12 horoscope sign.</a:t>
            </a:r>
            <a:r>
              <a:rPr lang="en-US" b="1" dirty="0"/>
              <a:t>&lt;/</a:t>
            </a:r>
            <a:r>
              <a:rPr lang="en-US" b="1" dirty="0" err="1"/>
              <a:t>dd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b="1" dirty="0"/>
              <a:t>&lt;</a:t>
            </a:r>
            <a:r>
              <a:rPr lang="en-US" b="1" dirty="0" err="1"/>
              <a:t>dt</a:t>
            </a:r>
            <a:r>
              <a:rPr lang="en-US" b="1" dirty="0"/>
              <a:t>&gt;</a:t>
            </a:r>
            <a:r>
              <a:rPr lang="en-US" dirty="0"/>
              <a:t>Bingo</a:t>
            </a:r>
            <a:r>
              <a:rPr lang="en-US" b="1" dirty="0"/>
              <a:t>&lt;/</a:t>
            </a:r>
            <a:r>
              <a:rPr lang="en-US" b="1" dirty="0" err="1"/>
              <a:t>dt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b="1" dirty="0"/>
              <a:t>&lt;</a:t>
            </a:r>
            <a:r>
              <a:rPr lang="en-US" b="1" dirty="0" err="1"/>
              <a:t>dd</a:t>
            </a:r>
            <a:r>
              <a:rPr lang="en-US" b="1" dirty="0"/>
              <a:t>&gt;</a:t>
            </a:r>
            <a:r>
              <a:rPr lang="en-US" dirty="0"/>
              <a:t>-One of my evening snacks</a:t>
            </a:r>
            <a:r>
              <a:rPr lang="en-US" b="1" dirty="0"/>
              <a:t>&lt;/</a:t>
            </a:r>
            <a:r>
              <a:rPr lang="en-US" b="1" dirty="0" err="1"/>
              <a:t>dd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&lt;</a:t>
            </a:r>
            <a:r>
              <a:rPr lang="en-US" b="1" dirty="0" err="1"/>
              <a:t>dt</a:t>
            </a:r>
            <a:r>
              <a:rPr lang="en-US" b="1" dirty="0"/>
              <a:t>&gt;</a:t>
            </a:r>
            <a:r>
              <a:rPr lang="en-US" dirty="0"/>
              <a:t>Leo</a:t>
            </a:r>
            <a:r>
              <a:rPr lang="en-US" b="1" dirty="0"/>
              <a:t>&lt;/</a:t>
            </a:r>
            <a:r>
              <a:rPr lang="en-US" b="1" dirty="0" err="1"/>
              <a:t>dt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&lt;</a:t>
            </a:r>
            <a:r>
              <a:rPr lang="en-US" b="1" dirty="0" err="1"/>
              <a:t>dd</a:t>
            </a:r>
            <a:r>
              <a:rPr lang="en-US" b="1" dirty="0"/>
              <a:t>&gt;</a:t>
            </a:r>
            <a:r>
              <a:rPr lang="en-US" dirty="0"/>
              <a:t>-It is also an one of the 12 horoscope sign.</a:t>
            </a:r>
            <a:r>
              <a:rPr lang="en-US" b="1" dirty="0"/>
              <a:t>&lt;/</a:t>
            </a:r>
            <a:r>
              <a:rPr lang="en-US" b="1" dirty="0" err="1"/>
              <a:t>dd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b="1" dirty="0"/>
              <a:t>&lt;</a:t>
            </a:r>
            <a:r>
              <a:rPr lang="en-US" b="1" dirty="0" err="1"/>
              <a:t>dt</a:t>
            </a:r>
            <a:r>
              <a:rPr lang="en-US" b="1" dirty="0"/>
              <a:t>&gt;</a:t>
            </a:r>
            <a:r>
              <a:rPr lang="en-US" dirty="0"/>
              <a:t>Oracle</a:t>
            </a:r>
            <a:r>
              <a:rPr lang="en-US" b="1" dirty="0"/>
              <a:t>&lt;/</a:t>
            </a:r>
            <a:r>
              <a:rPr lang="en-US" b="1" dirty="0" err="1"/>
              <a:t>dt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b="1" dirty="0"/>
              <a:t>&lt;</a:t>
            </a:r>
            <a:r>
              <a:rPr lang="en-US" b="1" dirty="0" err="1"/>
              <a:t>dd</a:t>
            </a:r>
            <a:r>
              <a:rPr lang="en-US" b="1" dirty="0"/>
              <a:t>&gt;</a:t>
            </a:r>
            <a:r>
              <a:rPr lang="en-US" dirty="0"/>
              <a:t>-It is a multinational technology corporation.</a:t>
            </a:r>
            <a:r>
              <a:rPr lang="en-US" b="1" dirty="0"/>
              <a:t>&lt;/</a:t>
            </a:r>
            <a:r>
              <a:rPr lang="en-US" b="1" dirty="0" err="1"/>
              <a:t>dd</a:t>
            </a:r>
            <a:r>
              <a:rPr lang="en-US" b="1" dirty="0"/>
              <a:t>&gt;</a:t>
            </a:r>
            <a:r>
              <a:rPr lang="en-US" dirty="0"/>
              <a:t>   </a:t>
            </a:r>
          </a:p>
          <a:p>
            <a:pPr marL="0" indent="0">
              <a:buNone/>
            </a:pPr>
            <a:r>
              <a:rPr lang="en-US" b="1" dirty="0"/>
              <a:t>&lt;/dl&gt;</a:t>
            </a:r>
            <a:r>
              <a:rPr lang="en-US" dirty="0"/>
              <a:t>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0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Output: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Aries</a:t>
            </a:r>
          </a:p>
          <a:p>
            <a:pPr marL="0" indent="0">
              <a:buNone/>
            </a:pPr>
            <a:r>
              <a:rPr lang="en-US" dirty="0" smtClean="0"/>
              <a:t>	-One of the 12 horoscope sign.</a:t>
            </a:r>
          </a:p>
          <a:p>
            <a:r>
              <a:rPr lang="en-US" dirty="0" smtClean="0"/>
              <a:t>Bingo</a:t>
            </a:r>
          </a:p>
          <a:p>
            <a:pPr marL="0" indent="0">
              <a:buNone/>
            </a:pPr>
            <a:r>
              <a:rPr lang="en-US" dirty="0" smtClean="0"/>
              <a:t>	-One of my evening snacks</a:t>
            </a:r>
          </a:p>
          <a:p>
            <a:r>
              <a:rPr lang="en-US" dirty="0" smtClean="0"/>
              <a:t>Leo</a:t>
            </a:r>
          </a:p>
          <a:p>
            <a:pPr marL="0" indent="0">
              <a:buNone/>
            </a:pPr>
            <a:r>
              <a:rPr lang="en-US" dirty="0" smtClean="0"/>
              <a:t>	-It is also an one of the 12 horoscope sign.</a:t>
            </a:r>
          </a:p>
          <a:p>
            <a:r>
              <a:rPr lang="en-US" dirty="0" smtClean="0"/>
              <a:t>Oracle</a:t>
            </a:r>
          </a:p>
          <a:p>
            <a:pPr marL="0" indent="0">
              <a:buNone/>
            </a:pPr>
            <a:r>
              <a:rPr lang="en-US" dirty="0" smtClean="0"/>
              <a:t>	-It is a multinational technology corporation.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88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sz="36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Hyperlinks (Anchor Tag):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Hyperlinks are used for linking:</a:t>
            </a:r>
          </a:p>
          <a:p>
            <a:pPr lvl="2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within the same page (Named tags)</a:t>
            </a:r>
          </a:p>
          <a:p>
            <a:pPr lvl="2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 To another page in your web site (Relative Link or local link)</a:t>
            </a:r>
          </a:p>
          <a:p>
            <a:pPr lvl="2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 To another page outside your web site (Absolute or remote link)</a:t>
            </a:r>
          </a:p>
          <a:p>
            <a:pPr lvl="2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Email Link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Hyper Links: are highlighted and underlined text. When you click on it, it takes you to another page on the web.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r>
              <a:rPr lang="en-US" dirty="0">
                <a:solidFill>
                  <a:srgbClr val="FF0033"/>
                </a:solidFill>
                <a:latin typeface="Times" panose="02020603050405020304" pitchFamily="18" charset="0"/>
              </a:rPr>
              <a:t>&lt;A command=“target”&gt;highlighted text&lt;/A&gt;</a:t>
            </a:r>
            <a:endParaRPr lang="en-US" dirty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83021" y="1690689"/>
            <a:ext cx="5249337" cy="502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4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sz="36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Hyperlinks: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Absolute Link: These are links to another page outside of your web site. These links specify the entire URL of the page: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endParaRPr lang="en-US" dirty="0">
              <a:solidFill>
                <a:srgbClr val="FF0033"/>
              </a:solidFill>
              <a:latin typeface="Times" panose="02020603050405020304" pitchFamily="18" charset="0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r>
              <a:rPr lang="en-US" sz="2000" dirty="0">
                <a:solidFill>
                  <a:srgbClr val="FF0033"/>
                </a:solidFill>
                <a:latin typeface="Times" panose="02020603050405020304" pitchFamily="18" charset="0"/>
              </a:rPr>
              <a:t>&lt;A HREF=“http://www.nyu.edu/”&gt;NYU Web Site&lt;/A&gt;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endParaRPr lang="en-US" sz="2000" dirty="0">
              <a:solidFill>
                <a:srgbClr val="FF0033"/>
              </a:solidFill>
              <a:latin typeface="Times" panose="02020603050405020304" pitchFamily="18" charset="0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r>
              <a:rPr lang="en-US" sz="2000" u="sng" dirty="0">
                <a:solidFill>
                  <a:srgbClr val="FF0033"/>
                </a:solidFill>
                <a:latin typeface="Times" panose="02020603050405020304" pitchFamily="18" charset="0"/>
              </a:rPr>
              <a:t>NYU Web Site</a:t>
            </a:r>
            <a:endParaRPr lang="en-US" sz="2000" dirty="0">
              <a:solidFill>
                <a:srgbClr val="FF0033"/>
              </a:solidFill>
              <a:latin typeface="Times" panose="02020603050405020304" pitchFamily="18" charset="0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endParaRPr lang="en-US" sz="2000" dirty="0">
              <a:solidFill>
                <a:srgbClr val="FF0033"/>
              </a:solidFill>
              <a:latin typeface="Times" panose="02020603050405020304" pitchFamily="18" charset="0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r>
              <a:rPr lang="en-US" sz="2000" dirty="0">
                <a:solidFill>
                  <a:srgbClr val="FF0033"/>
                </a:solidFill>
                <a:latin typeface="Times" panose="02020603050405020304" pitchFamily="18" charset="0"/>
              </a:rPr>
              <a:t>						</a:t>
            </a:r>
            <a:endParaRPr lang="en-US" dirty="0">
              <a:solidFill>
                <a:srgbClr val="000000"/>
              </a:solidFill>
              <a:latin typeface="Times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64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sz="36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Hyperlinks: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sz="3200" dirty="0">
                <a:solidFill>
                  <a:srgbClr val="FF0033"/>
                </a:solidFill>
                <a:latin typeface="Times" panose="02020603050405020304" pitchFamily="18" charset="0"/>
              </a:rPr>
              <a:t>Relative Link: These are links to another page in your site so you do not have to specify the entire URL.</a:t>
            </a:r>
          </a:p>
          <a:p>
            <a:pPr lvl="2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</a:pPr>
            <a:endParaRPr lang="en-US" sz="2400" dirty="0">
              <a:solidFill>
                <a:srgbClr val="FF0033"/>
              </a:solidFill>
              <a:latin typeface="Times" panose="02020603050405020304" pitchFamily="18" charset="0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r>
              <a:rPr lang="en-US" sz="2400" dirty="0">
                <a:solidFill>
                  <a:srgbClr val="FF0033"/>
                </a:solidFill>
                <a:latin typeface="Times" panose="02020603050405020304" pitchFamily="18" charset="0"/>
              </a:rPr>
              <a:t>&lt;A HREF=“index.html”&gt;Go back to main page&lt;/A&gt;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endParaRPr lang="en-US" sz="2400" dirty="0">
              <a:solidFill>
                <a:srgbClr val="FF0033"/>
              </a:solidFill>
              <a:latin typeface="Times" panose="02020603050405020304" pitchFamily="18" charset="0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r>
              <a:rPr lang="en-US" sz="2400" dirty="0">
                <a:solidFill>
                  <a:srgbClr val="FF0033"/>
                </a:solidFill>
                <a:latin typeface="Times" panose="02020603050405020304" pitchFamily="18" charset="0"/>
              </a:rPr>
              <a:t>					</a:t>
            </a:r>
            <a:r>
              <a:rPr lang="en-US" sz="2400" u="sng" dirty="0">
                <a:solidFill>
                  <a:srgbClr val="FF0033"/>
                </a:solidFill>
                <a:latin typeface="Times" panose="02020603050405020304" pitchFamily="18" charset="0"/>
              </a:rPr>
              <a:t>Go back to main page</a:t>
            </a:r>
            <a:endParaRPr lang="en-US" sz="3200" dirty="0">
              <a:solidFill>
                <a:srgbClr val="FF0033"/>
              </a:solidFill>
              <a:latin typeface="Times" panose="02020603050405020304" pitchFamily="18" charset="0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endParaRPr lang="en-US" sz="3200" dirty="0">
              <a:solidFill>
                <a:srgbClr val="FF0033"/>
              </a:solidFill>
              <a:latin typeface="Times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12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D270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Targeted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0000"/>
                </a:solidFill>
                <a:latin typeface="Times New Roman"/>
              </a:rPr>
              <a:t>A tag includes a target attribute.  If you specify target=</a:t>
            </a:r>
            <a:r>
              <a:rPr lang="en-US" sz="3200" dirty="0">
                <a:solidFill>
                  <a:srgbClr val="000000"/>
                </a:solidFill>
                <a:latin typeface="Times" panose="02020603050405020304" pitchFamily="18" charset="0"/>
              </a:rPr>
              <a:t>“</a:t>
            </a:r>
            <a:r>
              <a:rPr lang="en-US" sz="3200" dirty="0">
                <a:solidFill>
                  <a:srgbClr val="000000"/>
                </a:solidFill>
                <a:latin typeface="Times New Roman"/>
              </a:rPr>
              <a:t>_blank</a:t>
            </a:r>
            <a:r>
              <a:rPr lang="en-US" sz="3200" dirty="0">
                <a:solidFill>
                  <a:srgbClr val="000000"/>
                </a:solidFill>
                <a:latin typeface="Times" panose="02020603050405020304" pitchFamily="18" charset="0"/>
              </a:rPr>
              <a:t>”</a:t>
            </a:r>
            <a:r>
              <a:rPr lang="en-US" sz="3200" dirty="0">
                <a:solidFill>
                  <a:srgbClr val="000000"/>
                </a:solidFill>
                <a:latin typeface="Times New Roman"/>
              </a:rPr>
              <a:t>, a new browser window will be opened.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0033"/>
                </a:solidFill>
                <a:latin typeface="Courier New" panose="02070309020205020404" pitchFamily="49" charset="0"/>
              </a:rPr>
              <a:t>&lt;A HREF=</a:t>
            </a:r>
            <a:r>
              <a:rPr lang="en-US" sz="2400" dirty="0">
                <a:solidFill>
                  <a:srgbClr val="FF0033"/>
                </a:solidFill>
                <a:latin typeface="Times" panose="02020603050405020304" pitchFamily="18" charset="0"/>
              </a:rPr>
              <a:t>“</a:t>
            </a:r>
            <a:r>
              <a:rPr lang="en-US" sz="2400" dirty="0">
                <a:solidFill>
                  <a:srgbClr val="FF0033"/>
                </a:solidFill>
                <a:latin typeface="Courier New" panose="02070309020205020404" pitchFamily="49" charset="0"/>
              </a:rPr>
              <a:t>http://www.nyu.edu</a:t>
            </a:r>
            <a:r>
              <a:rPr lang="en-US" sz="2400" dirty="0">
                <a:solidFill>
                  <a:srgbClr val="FF0033"/>
                </a:solidFill>
                <a:latin typeface="Times" panose="02020603050405020304" pitchFamily="18" charset="0"/>
              </a:rPr>
              <a:t>”</a:t>
            </a:r>
            <a:r>
              <a:rPr lang="en-US" sz="2400" dirty="0">
                <a:solidFill>
                  <a:srgbClr val="FF0033"/>
                </a:solidFill>
                <a:latin typeface="Courier New" panose="02070309020205020404" pitchFamily="49" charset="0"/>
              </a:rPr>
              <a:t> target="_blank</a:t>
            </a:r>
            <a:r>
              <a:rPr lang="en-US" sz="2400" dirty="0">
                <a:solidFill>
                  <a:srgbClr val="FF0033"/>
                </a:solidFill>
                <a:latin typeface="Times" panose="02020603050405020304" pitchFamily="18" charset="0"/>
              </a:rPr>
              <a:t>”</a:t>
            </a:r>
            <a:r>
              <a:rPr lang="en-US" sz="2400" dirty="0">
                <a:solidFill>
                  <a:srgbClr val="FF0033"/>
                </a:solidFill>
                <a:latin typeface="Courier New" panose="02070309020205020404" pitchFamily="49" charset="0"/>
              </a:rPr>
              <a:t>&gt; NYU&lt;/A&gt;</a:t>
            </a: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0000"/>
                </a:solidFill>
                <a:latin typeface="Times New Roman"/>
              </a:rPr>
              <a:t>More on this when we get to frames...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31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sz="36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Email Link: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sz="3200" dirty="0">
                <a:solidFill>
                  <a:srgbClr val="000000"/>
                </a:solidFill>
                <a:latin typeface="Times" panose="02020603050405020304" pitchFamily="18" charset="0"/>
              </a:rPr>
              <a:t>You can someone at: 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r>
              <a:rPr lang="en-US" dirty="0">
                <a:solidFill>
                  <a:srgbClr val="FF0033"/>
                </a:solidFill>
                <a:latin typeface="Times" panose="02020603050405020304" pitchFamily="18" charset="0"/>
              </a:rPr>
              <a:t>&lt;a </a:t>
            </a:r>
            <a:r>
              <a:rPr lang="en-US" dirty="0" err="1">
                <a:solidFill>
                  <a:srgbClr val="FF0033"/>
                </a:solidFill>
                <a:latin typeface="Times" panose="02020603050405020304" pitchFamily="18" charset="0"/>
              </a:rPr>
              <a:t>href</a:t>
            </a:r>
            <a:r>
              <a:rPr lang="en-US" dirty="0">
                <a:solidFill>
                  <a:srgbClr val="FF0033"/>
                </a:solidFill>
                <a:latin typeface="Times" panose="02020603050405020304" pitchFamily="18" charset="0"/>
              </a:rPr>
              <a:t>=“mailto:jj1@nyu.edu”&gt;Send email to J.J.&lt;/A&gt;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75000"/>
              <a:buNone/>
            </a:pPr>
            <a:endParaRPr lang="en-US" sz="3200" dirty="0">
              <a:solidFill>
                <a:srgbClr val="FF0033"/>
              </a:solidFill>
              <a:latin typeface="Times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57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Lists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53425" y="642938"/>
            <a:ext cx="3000375" cy="5500688"/>
          </a:xfrm>
        </p:spPr>
        <p:txBody>
          <a:bodyPr>
            <a:normAutofit fontScale="85000" lnSpcReduction="10000"/>
          </a:bodyPr>
          <a:lstStyle/>
          <a:p>
            <a:pPr marL="378023" lvl="1">
              <a:spcBef>
                <a:spcPct val="0"/>
              </a:spcBef>
            </a:pPr>
            <a:endParaRPr lang="en-US" sz="1125" dirty="0"/>
          </a:p>
          <a:p>
            <a:pPr marL="0" indent="2977">
              <a:spcBef>
                <a:spcPct val="0"/>
              </a:spcBef>
            </a:pPr>
            <a:r>
              <a:rPr lang="en-US" dirty="0" smtClean="0"/>
              <a:t>there are 3 different types of list elements</a:t>
            </a:r>
          </a:p>
          <a:p>
            <a:pPr marL="0" indent="2977">
              <a:spcBef>
                <a:spcPct val="0"/>
              </a:spcBef>
            </a:pPr>
            <a:endParaRPr lang="en-US" dirty="0" smtClean="0"/>
          </a:p>
          <a:p>
            <a:pPr marL="378023" lvl="1">
              <a:spcBef>
                <a:spcPct val="0"/>
              </a:spcBef>
            </a:pP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&lt;</a:t>
            </a:r>
            <a:r>
              <a:rPr lang="en-US" sz="1688" dirty="0" err="1">
                <a:solidFill>
                  <a:srgbClr val="FF0033"/>
                </a:solidFill>
                <a:latin typeface="Courier New" panose="02070309020205020404" pitchFamily="49" charset="0"/>
              </a:rPr>
              <a:t>ol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&gt;…&lt;/</a:t>
            </a:r>
            <a:r>
              <a:rPr lang="en-US" sz="1688" dirty="0" err="1">
                <a:solidFill>
                  <a:srgbClr val="FF0033"/>
                </a:solidFill>
                <a:latin typeface="Courier New" panose="02070309020205020404" pitchFamily="49" charset="0"/>
              </a:rPr>
              <a:t>ol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&gt;</a:t>
            </a:r>
            <a:r>
              <a:rPr lang="en-US" dirty="0" smtClean="0"/>
              <a:t> specifies an ordered list  (using numbers or letters to label each list item)</a:t>
            </a:r>
          </a:p>
          <a:p>
            <a:pPr marL="488156" lvl="2" indent="-2977">
              <a:spcBef>
                <a:spcPct val="0"/>
              </a:spcBef>
            </a:pPr>
            <a:r>
              <a:rPr lang="en-US" sz="1500" dirty="0">
                <a:solidFill>
                  <a:srgbClr val="FF0033"/>
                </a:solidFill>
                <a:latin typeface="Courier New" panose="02070309020205020404" pitchFamily="49" charset="0"/>
              </a:rPr>
              <a:t>&lt;li&gt;</a:t>
            </a:r>
            <a:r>
              <a:rPr lang="en-US" sz="1688" dirty="0"/>
              <a:t> identifies each list item</a:t>
            </a:r>
          </a:p>
          <a:p>
            <a:pPr marL="488156" lvl="2" indent="-2977">
              <a:spcBef>
                <a:spcPct val="0"/>
              </a:spcBef>
            </a:pPr>
            <a:endParaRPr lang="en-US" sz="1688" dirty="0"/>
          </a:p>
          <a:p>
            <a:pPr marL="488156" lvl="2" indent="-2977">
              <a:spcBef>
                <a:spcPct val="0"/>
              </a:spcBef>
            </a:pPr>
            <a:r>
              <a:rPr lang="en-US" sz="1688" i="1" dirty="0"/>
              <a:t>can set type of ordering, start index</a:t>
            </a:r>
          </a:p>
          <a:p>
            <a:pPr marL="378023" lvl="1">
              <a:spcBef>
                <a:spcPct val="0"/>
              </a:spcBef>
            </a:pPr>
            <a:endParaRPr lang="en-US" sz="1688" dirty="0">
              <a:latin typeface="Courier New" panose="02070309020205020404" pitchFamily="49" charset="0"/>
            </a:endParaRPr>
          </a:p>
          <a:p>
            <a:pPr marL="378023" lvl="1">
              <a:spcBef>
                <a:spcPct val="0"/>
              </a:spcBef>
            </a:pP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&lt;</a:t>
            </a:r>
            <a:r>
              <a:rPr lang="en-US" sz="1688" dirty="0" err="1">
                <a:solidFill>
                  <a:srgbClr val="FF0033"/>
                </a:solidFill>
                <a:latin typeface="Courier New" panose="02070309020205020404" pitchFamily="49" charset="0"/>
              </a:rPr>
              <a:t>ul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&gt;…&lt;/</a:t>
            </a:r>
            <a:r>
              <a:rPr lang="en-US" sz="1688" dirty="0" err="1">
                <a:solidFill>
                  <a:srgbClr val="FF0033"/>
                </a:solidFill>
                <a:latin typeface="Courier New" panose="02070309020205020404" pitchFamily="49" charset="0"/>
              </a:rPr>
              <a:t>ul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&gt;</a:t>
            </a:r>
            <a:r>
              <a:rPr lang="en-US" dirty="0" smtClean="0"/>
              <a:t> specifies unordered list  (using a bullet for each)</a:t>
            </a:r>
          </a:p>
          <a:p>
            <a:pPr marL="488156" lvl="2" indent="-2977">
              <a:spcBef>
                <a:spcPct val="0"/>
              </a:spcBef>
            </a:pPr>
            <a:r>
              <a:rPr lang="en-US" sz="1500" dirty="0">
                <a:solidFill>
                  <a:srgbClr val="FF0033"/>
                </a:solidFill>
                <a:latin typeface="Courier New" panose="02070309020205020404" pitchFamily="49" charset="0"/>
              </a:rPr>
              <a:t>&lt;li&gt;</a:t>
            </a:r>
            <a:r>
              <a:rPr lang="en-US" sz="1688" dirty="0"/>
              <a:t> identifies each list item</a:t>
            </a:r>
            <a:endParaRPr lang="en-US" sz="1688" dirty="0">
              <a:latin typeface="Courier New" panose="02070309020205020404" pitchFamily="49" charset="0"/>
            </a:endParaRPr>
          </a:p>
          <a:p>
            <a:pPr marL="378023" lvl="1">
              <a:spcBef>
                <a:spcPct val="0"/>
              </a:spcBef>
            </a:pPr>
            <a:endParaRPr lang="en-US" sz="1688" dirty="0">
              <a:latin typeface="Courier New" panose="02070309020205020404" pitchFamily="49" charset="0"/>
            </a:endParaRPr>
          </a:p>
          <a:p>
            <a:pPr marL="378023" lvl="1">
              <a:spcBef>
                <a:spcPct val="0"/>
              </a:spcBef>
            </a:pPr>
            <a:r>
              <a:rPr lang="en-US" sz="1688" dirty="0">
                <a:solidFill>
                  <a:schemeClr val="accent2"/>
                </a:solidFill>
                <a:latin typeface="Courier New" panose="02070309020205020404" pitchFamily="49" charset="0"/>
              </a:rPr>
              <a:t>&lt;dl&gt;…&lt;/dl&gt;</a:t>
            </a:r>
            <a:r>
              <a:rPr lang="en-US" dirty="0" smtClean="0"/>
              <a:t> specifies a definition list </a:t>
            </a:r>
            <a:r>
              <a:rPr lang="en-US" sz="1500" dirty="0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sz="15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dt</a:t>
            </a:r>
            <a:r>
              <a:rPr lang="en-US" sz="1500" dirty="0">
                <a:latin typeface="Courier New" panose="02070309020205020404" pitchFamily="49" charset="0"/>
              </a:rPr>
              <a:t>&gt;</a:t>
            </a:r>
            <a:r>
              <a:rPr lang="en-US" sz="1688" dirty="0"/>
              <a:t> identifies each term</a:t>
            </a:r>
          </a:p>
          <a:p>
            <a:pPr marL="488156" lvl="2" indent="-2977">
              <a:spcBef>
                <a:spcPct val="0"/>
              </a:spcBef>
            </a:pPr>
            <a:r>
              <a:rPr lang="en-US" sz="1500" dirty="0"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sz="15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dd</a:t>
            </a:r>
            <a:r>
              <a:rPr lang="en-US" sz="1500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  <a:r>
              <a:rPr lang="en-US" sz="1688" dirty="0"/>
              <a:t> identifies its definition</a:t>
            </a:r>
          </a:p>
          <a:p>
            <a:pPr marL="488156" lvl="2" indent="-2977">
              <a:spcBef>
                <a:spcPct val="0"/>
              </a:spcBef>
            </a:pPr>
            <a:endParaRPr lang="en-GB" sz="1688" dirty="0"/>
          </a:p>
          <a:p>
            <a:pPr marL="378023" lvl="1">
              <a:spcBef>
                <a:spcPct val="0"/>
              </a:spcBef>
              <a:buNone/>
            </a:pPr>
            <a:r>
              <a:rPr lang="en-GB" sz="1688" dirty="0"/>
              <a:t>* We will learn more about the “style” attributes soon enough.</a:t>
            </a:r>
            <a:endParaRPr lang="en-US" sz="1688" dirty="0">
              <a:solidFill>
                <a:srgbClr val="009900"/>
              </a:solidFill>
            </a:endParaRPr>
          </a:p>
          <a:p>
            <a:pPr marL="488156" lvl="2" indent="-2977">
              <a:spcBef>
                <a:spcPct val="0"/>
              </a:spcBef>
            </a:pPr>
            <a:endParaRPr lang="en-GB" sz="1688" dirty="0">
              <a:solidFill>
                <a:srgbClr val="009900"/>
              </a:solidFill>
            </a:endParaRPr>
          </a:p>
          <a:p>
            <a:pPr marL="488156" lvl="2" indent="-2977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2492330" y="642938"/>
            <a:ext cx="5429250" cy="6095771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sz="1313" dirty="0">
                <a:latin typeface="Courier New" panose="02070309020205020404" pitchFamily="49" charset="0"/>
              </a:rPr>
              <a:t>&lt;html&gt;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&lt;!–- COMP519 page07.html  23.09.08 --&gt;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&lt;head&gt;  &lt;title&gt;(Sort of) Simple Lists&lt;/title&gt;</a:t>
            </a:r>
          </a:p>
          <a:p>
            <a:r>
              <a:rPr lang="en-GB" sz="1313" dirty="0">
                <a:latin typeface="Courier New" panose="02070309020205020404" pitchFamily="49" charset="0"/>
              </a:rPr>
              <a:t>  &lt;style type="text/</a:t>
            </a:r>
            <a:r>
              <a:rPr lang="en-GB" sz="1313" dirty="0" err="1">
                <a:latin typeface="Courier New" panose="02070309020205020404" pitchFamily="49" charset="0"/>
              </a:rPr>
              <a:t>css</a:t>
            </a:r>
            <a:r>
              <a:rPr lang="en-GB" sz="1313" dirty="0">
                <a:latin typeface="Courier New" panose="02070309020205020404" pitchFamily="49" charset="0"/>
              </a:rPr>
              <a:t>"&gt;</a:t>
            </a:r>
          </a:p>
          <a:p>
            <a:r>
              <a:rPr lang="en-GB" sz="1313" dirty="0">
                <a:latin typeface="Courier New" panose="02070309020205020404" pitchFamily="49" charset="0"/>
              </a:rPr>
              <a:t>  .</a:t>
            </a:r>
            <a:r>
              <a:rPr lang="en-GB" sz="1313" dirty="0" err="1">
                <a:latin typeface="Courier New" panose="02070309020205020404" pitchFamily="49" charset="0"/>
              </a:rPr>
              <a:t>my_li:before</a:t>
            </a:r>
            <a:r>
              <a:rPr lang="en-GB" sz="1313" dirty="0">
                <a:latin typeface="Courier New" panose="02070309020205020404" pitchFamily="49" charset="0"/>
              </a:rPr>
              <a:t> {  content: counter(list) ": ";</a:t>
            </a:r>
          </a:p>
          <a:p>
            <a:r>
              <a:rPr lang="en-GB" sz="1313" dirty="0">
                <a:latin typeface="Courier New" panose="02070309020205020404" pitchFamily="49" charset="0"/>
              </a:rPr>
              <a:t>                   counter-increment: list;  }</a:t>
            </a:r>
          </a:p>
          <a:p>
            <a:r>
              <a:rPr lang="en-GB" sz="1313" dirty="0">
                <a:latin typeface="Courier New" panose="02070309020205020404" pitchFamily="49" charset="0"/>
              </a:rPr>
              <a:t>  &lt;/style&gt;</a:t>
            </a:r>
            <a:r>
              <a:rPr lang="en-US" sz="1313" dirty="0">
                <a:latin typeface="Courier New" panose="02070309020205020404" pitchFamily="49" charset="0"/>
              </a:rPr>
              <a:t>  &lt;/head&gt;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1313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solidFill>
                  <a:schemeClr val="tx2"/>
                </a:solidFill>
                <a:latin typeface="Courier New" panose="02070309020205020404" pitchFamily="49" charset="0"/>
              </a:rPr>
              <a:t>ul</a:t>
            </a:r>
            <a:r>
              <a:rPr lang="en-US" sz="1313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GB" sz="1313" dirty="0">
                <a:solidFill>
                  <a:schemeClr val="tx2"/>
                </a:solidFill>
                <a:latin typeface="Courier New" panose="02070309020205020404" pitchFamily="49" charset="0"/>
              </a:rPr>
              <a:t>style="list-style-type: square;"&gt;</a:t>
            </a:r>
            <a:r>
              <a:rPr lang="en-GB" sz="2250" dirty="0"/>
              <a:t> </a:t>
            </a:r>
            <a:endParaRPr lang="en-US" sz="1313" dirty="0">
              <a:latin typeface="Courier New" panose="02070309020205020404" pitchFamily="49" charset="0"/>
            </a:endParaRPr>
          </a:p>
          <a:p>
            <a:r>
              <a:rPr lang="en-US" sz="1313" dirty="0">
                <a:latin typeface="Courier New" panose="02070309020205020404" pitchFamily="49" charset="0"/>
              </a:rPr>
              <a:t> 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&lt;li&gt;</a:t>
            </a:r>
            <a:r>
              <a:rPr lang="en-US" sz="1313" dirty="0">
                <a:latin typeface="Courier New" panose="02070309020205020404" pitchFamily="49" charset="0"/>
              </a:rPr>
              <a:t> ... first list item... </a:t>
            </a:r>
            <a:r>
              <a:rPr lang="en-US" sz="1313" dirty="0">
                <a:solidFill>
                  <a:schemeClr val="tx2"/>
                </a:solidFill>
                <a:latin typeface="Courier New" panose="02070309020205020404" pitchFamily="49" charset="0"/>
              </a:rPr>
              <a:t>&lt;/li&gt;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&lt;li&gt;</a:t>
            </a:r>
            <a:r>
              <a:rPr lang="en-US" sz="1313" dirty="0">
                <a:latin typeface="Courier New" panose="02070309020205020404" pitchFamily="49" charset="0"/>
              </a:rPr>
              <a:t> ... second list item... ... </a:t>
            </a:r>
            <a:r>
              <a:rPr lang="en-US" sz="1313" dirty="0">
                <a:solidFill>
                  <a:schemeClr val="tx2"/>
                </a:solidFill>
                <a:latin typeface="Courier New" panose="02070309020205020404" pitchFamily="49" charset="0"/>
              </a:rPr>
              <a:t>&lt;/li&gt;</a:t>
            </a:r>
          </a:p>
          <a:p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&lt;/</a:t>
            </a:r>
            <a:r>
              <a:rPr lang="en-US" sz="1313" dirty="0" err="1">
                <a:solidFill>
                  <a:srgbClr val="FF0033"/>
                </a:solidFill>
                <a:latin typeface="Courier New" panose="02070309020205020404" pitchFamily="49" charset="0"/>
              </a:rPr>
              <a:t>ul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&lt;dl&gt;</a:t>
            </a:r>
            <a:r>
              <a:rPr lang="en-US" sz="1313" dirty="0">
                <a:latin typeface="Courier New" panose="02070309020205020404" pitchFamily="49" charset="0"/>
              </a:rPr>
              <a:t>  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dt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  <a:r>
              <a:rPr lang="en-US" sz="1313" dirty="0">
                <a:latin typeface="Courier New" panose="02070309020205020404" pitchFamily="49" charset="0"/>
              </a:rPr>
              <a:t> Dweeb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&lt;/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dt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dd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  <a:r>
              <a:rPr lang="en-US" sz="1313" dirty="0">
                <a:latin typeface="Courier New" panose="02070309020205020404" pitchFamily="49" charset="0"/>
              </a:rPr>
              <a:t> young excitable person who may 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mature into a &lt;</a:t>
            </a:r>
            <a:r>
              <a:rPr lang="en-US" sz="1313" dirty="0" err="1">
                <a:latin typeface="Courier New" panose="02070309020205020404" pitchFamily="49" charset="0"/>
              </a:rPr>
              <a:t>em</a:t>
            </a:r>
            <a:r>
              <a:rPr lang="en-US" sz="1313" dirty="0">
                <a:latin typeface="Courier New" panose="02070309020205020404" pitchFamily="49" charset="0"/>
              </a:rPr>
              <a:t>&gt;Nerd&lt;/</a:t>
            </a:r>
            <a:r>
              <a:rPr lang="en-US" sz="1313" dirty="0" err="1">
                <a:latin typeface="Courier New" panose="02070309020205020404" pitchFamily="49" charset="0"/>
              </a:rPr>
              <a:t>em</a:t>
            </a:r>
            <a:r>
              <a:rPr lang="en-US" sz="1313" dirty="0">
                <a:latin typeface="Courier New" panose="02070309020205020404" pitchFamily="49" charset="0"/>
              </a:rPr>
              <a:t>&gt;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&lt;/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dd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  <a:r>
              <a:rPr lang="en-US" sz="1313" dirty="0">
                <a:latin typeface="Courier New" panose="02070309020205020404" pitchFamily="49" charset="0"/>
              </a:rPr>
              <a:t> 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dt</a:t>
            </a:r>
            <a:r>
              <a:rPr lang="en-US" sz="1313" dirty="0">
                <a:latin typeface="Courier New" panose="02070309020205020404" pitchFamily="49" charset="0"/>
              </a:rPr>
              <a:t>&gt; Hacker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&lt;/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dt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  </a:t>
            </a:r>
          </a:p>
          <a:p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      &lt;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dd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  <a:r>
              <a:rPr lang="en-US" sz="1313" dirty="0">
                <a:latin typeface="Courier New" panose="02070309020205020404" pitchFamily="49" charset="0"/>
              </a:rPr>
              <a:t> a clever programmer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&lt;/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dd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dt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  <a:r>
              <a:rPr lang="en-US" sz="1313" dirty="0">
                <a:latin typeface="Courier New" panose="02070309020205020404" pitchFamily="49" charset="0"/>
              </a:rPr>
              <a:t> Nerd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&lt;/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dt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  &lt;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dd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  <a:r>
              <a:rPr lang="en-US" sz="1313" dirty="0">
                <a:latin typeface="Courier New" panose="02070309020205020404" pitchFamily="49" charset="0"/>
              </a:rPr>
              <a:t> technically bright but 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      socially inept person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&lt;/</a:t>
            </a:r>
            <a:r>
              <a:rPr lang="en-US" sz="1313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dd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&lt;/dl&gt;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</a:t>
            </a:r>
            <a:r>
              <a:rPr lang="en-US" sz="1313" dirty="0">
                <a:solidFill>
                  <a:schemeClr val="tx2"/>
                </a:solidFill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solidFill>
                  <a:schemeClr val="tx2"/>
                </a:solidFill>
                <a:latin typeface="Courier New" panose="02070309020205020404" pitchFamily="49" charset="0"/>
              </a:rPr>
              <a:t>ol</a:t>
            </a:r>
            <a:r>
              <a:rPr lang="en-US" sz="1313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GB" sz="1313" dirty="0">
                <a:solidFill>
                  <a:schemeClr val="tx2"/>
                </a:solidFill>
                <a:latin typeface="Courier New" panose="02070309020205020404" pitchFamily="49" charset="0"/>
              </a:rPr>
              <a:t>style="list-style-type: none;</a:t>
            </a:r>
          </a:p>
          <a:p>
            <a:r>
              <a:rPr lang="en-GB" sz="1313" dirty="0">
                <a:solidFill>
                  <a:schemeClr val="tx2"/>
                </a:solidFill>
                <a:latin typeface="Courier New" panose="02070309020205020404" pitchFamily="49" charset="0"/>
              </a:rPr>
              <a:t>            counter-reset: list 29;" &gt;</a:t>
            </a:r>
            <a:endParaRPr lang="en-US" sz="1313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en-US" sz="1313" dirty="0">
                <a:latin typeface="Courier New" panose="02070309020205020404" pitchFamily="49" charset="0"/>
              </a:rPr>
              <a:t>  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&lt;li class="</a:t>
            </a:r>
            <a:r>
              <a:rPr lang="en-US" sz="1313" dirty="0" err="1">
                <a:solidFill>
                  <a:srgbClr val="FF0033"/>
                </a:solidFill>
                <a:latin typeface="Courier New" panose="02070309020205020404" pitchFamily="49" charset="0"/>
              </a:rPr>
              <a:t>my_li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"&gt;</a:t>
            </a:r>
            <a:r>
              <a:rPr lang="en-US" sz="1313" dirty="0">
                <a:latin typeface="Courier New" panose="02070309020205020404" pitchFamily="49" charset="0"/>
              </a:rPr>
              <a:t>Makes first item number 30.</a:t>
            </a:r>
            <a:r>
              <a:rPr lang="en-US" sz="1313" dirty="0">
                <a:solidFill>
                  <a:schemeClr val="tx2"/>
                </a:solidFill>
                <a:latin typeface="Courier New" panose="02070309020205020404" pitchFamily="49" charset="0"/>
              </a:rPr>
              <a:t>&lt;/li&gt;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&lt;li class="</a:t>
            </a:r>
            <a:r>
              <a:rPr lang="en-US" sz="1313" dirty="0" err="1">
                <a:solidFill>
                  <a:srgbClr val="FF0033"/>
                </a:solidFill>
                <a:latin typeface="Courier New" panose="02070309020205020404" pitchFamily="49" charset="0"/>
              </a:rPr>
              <a:t>my_li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"&gt;</a:t>
            </a:r>
            <a:r>
              <a:rPr lang="en-US" sz="1313" dirty="0">
                <a:latin typeface="Courier New" panose="02070309020205020404" pitchFamily="49" charset="0"/>
              </a:rPr>
              <a:t>Next item continues to number 31.</a:t>
            </a:r>
            <a:r>
              <a:rPr lang="en-US" sz="1313" dirty="0">
                <a:solidFill>
                  <a:schemeClr val="tx2"/>
                </a:solidFill>
                <a:latin typeface="Courier New" panose="02070309020205020404" pitchFamily="49" charset="0"/>
              </a:rPr>
              <a:t>&lt;/li&gt;</a:t>
            </a:r>
            <a:r>
              <a:rPr lang="en-US" sz="1313" dirty="0">
                <a:latin typeface="Courier New" panose="02070309020205020404" pitchFamily="49" charset="0"/>
              </a:rPr>
              <a:t> </a:t>
            </a:r>
            <a:endParaRPr lang="en-US" sz="1313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&lt;/</a:t>
            </a:r>
            <a:r>
              <a:rPr lang="en-US" sz="1313" dirty="0" err="1">
                <a:solidFill>
                  <a:srgbClr val="FF0033"/>
                </a:solidFill>
                <a:latin typeface="Courier New" panose="02070309020205020404" pitchFamily="49" charset="0"/>
              </a:rPr>
              <a:t>ol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&gt;</a:t>
            </a:r>
            <a:endParaRPr lang="en-US" sz="1313" dirty="0">
              <a:latin typeface="Courier New" panose="02070309020205020404" pitchFamily="49" charset="0"/>
            </a:endParaRPr>
          </a:p>
          <a:p>
            <a:endParaRPr lang="en-US" sz="1313" dirty="0">
              <a:latin typeface="Courier New" panose="02070309020205020404" pitchFamily="49" charset="0"/>
            </a:endParaRPr>
          </a:p>
          <a:p>
            <a:r>
              <a:rPr lang="en-US" sz="1313" dirty="0">
                <a:latin typeface="Courier New" panose="02070309020205020404" pitchFamily="49" charset="0"/>
              </a:rPr>
              <a:t>&lt;/body&gt;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&lt;/html&gt;</a:t>
            </a:r>
          </a:p>
        </p:txBody>
      </p:sp>
      <p:sp>
        <p:nvSpPr>
          <p:cNvPr id="36869" name="Text Box 6">
            <a:hlinkClick r:id="rId3"/>
          </p:cNvPr>
          <p:cNvSpPr txBox="1">
            <a:spLocks noChangeArrowheads="1"/>
          </p:cNvSpPr>
          <p:nvPr/>
        </p:nvSpPr>
        <p:spPr bwMode="auto">
          <a:xfrm>
            <a:off x="3667125" y="6286500"/>
            <a:ext cx="2357438" cy="35208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88">
                <a:latin typeface="Arial Narrow" panose="020B0606020202030204" pitchFamily="34" charset="0"/>
              </a:rPr>
              <a:t>view page</a:t>
            </a:r>
          </a:p>
        </p:txBody>
      </p:sp>
    </p:spTree>
    <p:extLst>
      <p:ext uri="{BB962C8B-B14F-4D97-AF65-F5344CB8AC3E}">
        <p14:creationId xmlns:p14="http://schemas.microsoft.com/office/powerpoint/2010/main" val="317782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Hyperlinks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1750" y="857250"/>
            <a:ext cx="4000500" cy="5643563"/>
          </a:xfrm>
        </p:spPr>
        <p:txBody>
          <a:bodyPr>
            <a:normAutofit fontScale="92500" lnSpcReduction="20000"/>
          </a:bodyPr>
          <a:lstStyle/>
          <a:p>
            <a:pPr marL="0" indent="2977">
              <a:spcBef>
                <a:spcPct val="0"/>
              </a:spcBef>
            </a:pPr>
            <a:r>
              <a:rPr lang="en-US" sz="2625"/>
              <a:t>perhaps the most important HTML element is the hyperlink, or ANCHOR</a:t>
            </a:r>
          </a:p>
          <a:p>
            <a:pPr marL="0" indent="2977">
              <a:spcBef>
                <a:spcPct val="0"/>
              </a:spcBef>
            </a:pPr>
            <a:endParaRPr lang="en-US" sz="2625"/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r>
              <a:rPr lang="en-US" smtClean="0">
                <a:solidFill>
                  <a:schemeClr val="tx2"/>
                </a:solidFill>
                <a:latin typeface="Courier New" panose="02070309020205020404" pitchFamily="49" charset="0"/>
              </a:rPr>
              <a:t>&lt;a href="</a:t>
            </a:r>
            <a:r>
              <a:rPr lang="en-US" i="1" smtClean="0">
                <a:solidFill>
                  <a:schemeClr val="tx2"/>
                </a:solidFill>
                <a:latin typeface="Courier New" panose="02070309020205020404" pitchFamily="49" charset="0"/>
              </a:rPr>
              <a:t>URL</a:t>
            </a:r>
            <a:r>
              <a:rPr lang="en-US" smtClean="0">
                <a:solidFill>
                  <a:schemeClr val="tx2"/>
                </a:solidFill>
                <a:latin typeface="Courier New" panose="02070309020205020404" pitchFamily="49" charset="0"/>
              </a:rPr>
              <a:t>"&gt;…&lt;/a&gt;</a:t>
            </a:r>
            <a:endParaRPr lang="en-US" smtClean="0">
              <a:solidFill>
                <a:schemeClr val="tx2"/>
              </a:solidFill>
            </a:endParaRPr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endParaRPr lang="en-US" smtClean="0"/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r>
              <a:rPr lang="en-US" smtClean="0"/>
              <a:t>where URL is the Web address of the page to be displayed when the user clicks on the link</a:t>
            </a: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endParaRPr lang="en-US" smtClean="0"/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r>
              <a:rPr lang="en-US" i="1" smtClean="0"/>
              <a:t>if the page is accessed over the Web, must start with </a:t>
            </a:r>
            <a:r>
              <a:rPr lang="en-US" sz="1688">
                <a:latin typeface="Courier New" panose="02070309020205020404" pitchFamily="49" charset="0"/>
              </a:rPr>
              <a:t>http://</a:t>
            </a: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endParaRPr lang="en-US" i="1" smtClean="0"/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r>
              <a:rPr lang="en-US" i="1" smtClean="0"/>
              <a:t>if not there, the browser will assume it is the name of a local file</a:t>
            </a: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endParaRPr lang="en-US" i="1" smtClean="0"/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endParaRPr lang="en-US" sz="2250" i="1"/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r>
              <a:rPr lang="en-US" smtClean="0">
                <a:solidFill>
                  <a:schemeClr val="tx2"/>
                </a:solidFill>
                <a:latin typeface="Courier New" panose="02070309020205020404" pitchFamily="49" charset="0"/>
              </a:rPr>
              <a:t>&lt;a href="</a:t>
            </a:r>
            <a:r>
              <a:rPr lang="en-US" i="1" smtClean="0">
                <a:solidFill>
                  <a:schemeClr val="tx2"/>
                </a:solidFill>
                <a:latin typeface="Courier New" panose="02070309020205020404" pitchFamily="49" charset="0"/>
              </a:rPr>
              <a:t>URL</a:t>
            </a:r>
            <a:r>
              <a:rPr lang="en-US" smtClean="0">
                <a:solidFill>
                  <a:schemeClr val="tx2"/>
                </a:solidFill>
                <a:latin typeface="Courier New" panose="02070309020205020404" pitchFamily="49" charset="0"/>
              </a:rPr>
              <a:t>" target="_blank"&gt;…&lt;/a&gt;</a:t>
            </a:r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endParaRPr lang="en-US" smtClean="0">
              <a:latin typeface="Courier New" panose="02070309020205020404" pitchFamily="49" charset="0"/>
            </a:endParaRP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r>
              <a:rPr lang="en-US" smtClean="0"/>
              <a:t>causes the page to be loaded in a new </a:t>
            </a: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r>
              <a:rPr lang="en-US" smtClean="0"/>
              <a:t>Window</a:t>
            </a:r>
          </a:p>
          <a:p>
            <a:pPr marL="378023" lvl="1">
              <a:lnSpc>
                <a:spcPct val="70000"/>
              </a:lnSpc>
              <a:spcBef>
                <a:spcPct val="0"/>
              </a:spcBef>
              <a:buNone/>
            </a:pPr>
            <a:endParaRPr lang="en-GB" i="1" smtClean="0">
              <a:solidFill>
                <a:srgbClr val="FF0033"/>
              </a:solidFill>
            </a:endParaRPr>
          </a:p>
          <a:p>
            <a:pPr marL="378023" lvl="1">
              <a:lnSpc>
                <a:spcPct val="70000"/>
              </a:lnSpc>
              <a:spcBef>
                <a:spcPct val="0"/>
              </a:spcBef>
              <a:buNone/>
            </a:pPr>
            <a:r>
              <a:rPr lang="en-GB" i="1" smtClean="0">
                <a:solidFill>
                  <a:srgbClr val="FF0033"/>
                </a:solidFill>
              </a:rPr>
              <a:t>* Find more info on attribute </a:t>
            </a:r>
            <a:r>
              <a:rPr lang="en-GB" i="1" smtClean="0">
                <a:solidFill>
                  <a:srgbClr val="009900"/>
                </a:solidFill>
              </a:rPr>
              <a:t>TARGET</a:t>
            </a:r>
            <a:endParaRPr lang="en-US" sz="2250" i="1"/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809750" y="1285875"/>
            <a:ext cx="4286250" cy="372909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sz="1313">
                <a:latin typeface="Courier New" panose="02070309020205020404" pitchFamily="49" charset="0"/>
              </a:rPr>
              <a:t>&lt;html&gt;</a:t>
            </a:r>
          </a:p>
          <a:p>
            <a:r>
              <a:rPr lang="en-US" sz="1313">
                <a:latin typeface="Courier New" panose="02070309020205020404" pitchFamily="49" charset="0"/>
              </a:rPr>
              <a:t>&lt;!–- COMP519 page08.html  15.08.06 --&gt;</a:t>
            </a:r>
          </a:p>
          <a:p>
            <a:endParaRPr lang="en-US" sz="1313">
              <a:latin typeface="Courier New" panose="02070309020205020404" pitchFamily="49" charset="0"/>
            </a:endParaRPr>
          </a:p>
          <a:p>
            <a:r>
              <a:rPr lang="en-US" sz="1313">
                <a:latin typeface="Courier New" panose="02070309020205020404" pitchFamily="49" charset="0"/>
              </a:rPr>
              <a:t>&lt;head&gt;</a:t>
            </a:r>
          </a:p>
          <a:p>
            <a:r>
              <a:rPr lang="en-US" sz="1313">
                <a:latin typeface="Courier New" panose="02070309020205020404" pitchFamily="49" charset="0"/>
              </a:rPr>
              <a:t>  &lt;title&gt;Hyperlinks&lt;/title&gt;</a:t>
            </a:r>
          </a:p>
          <a:p>
            <a:r>
              <a:rPr lang="en-US" sz="1313">
                <a:latin typeface="Courier New" panose="02070309020205020404" pitchFamily="49" charset="0"/>
              </a:rPr>
              <a:t>&lt;/head&gt;</a:t>
            </a:r>
          </a:p>
          <a:p>
            <a:endParaRPr lang="en-US" sz="1313">
              <a:latin typeface="Courier New" panose="02070309020205020404" pitchFamily="49" charset="0"/>
            </a:endParaRPr>
          </a:p>
          <a:p>
            <a:r>
              <a:rPr lang="en-US" sz="1313"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1313">
                <a:latin typeface="Courier New" panose="02070309020205020404" pitchFamily="49" charset="0"/>
              </a:rPr>
              <a:t>  &lt;p&gt;</a:t>
            </a:r>
          </a:p>
          <a:p>
            <a:r>
              <a:rPr lang="en-US" sz="1313">
                <a:solidFill>
                  <a:srgbClr val="FF0033"/>
                </a:solidFill>
                <a:latin typeface="Courier New" panose="02070309020205020404" pitchFamily="49" charset="0"/>
              </a:rPr>
              <a:t>  &lt;a href="http://www.liv.ac.uk"&gt;</a:t>
            </a:r>
          </a:p>
          <a:p>
            <a:r>
              <a:rPr lang="en-US" sz="1313">
                <a:solidFill>
                  <a:srgbClr val="FF0033"/>
                </a:solidFill>
                <a:latin typeface="Courier New" panose="02070309020205020404" pitchFamily="49" charset="0"/>
              </a:rPr>
              <a:t>  </a:t>
            </a:r>
            <a:r>
              <a:rPr lang="en-US" sz="1313">
                <a:solidFill>
                  <a:srgbClr val="009900"/>
                </a:solidFill>
                <a:latin typeface="Courier New" panose="02070309020205020404" pitchFamily="49" charset="0"/>
              </a:rPr>
              <a:t>The University of Liverpool</a:t>
            </a:r>
            <a:r>
              <a:rPr lang="en-US" sz="1313">
                <a:solidFill>
                  <a:srgbClr val="FF0033"/>
                </a:solidFill>
                <a:latin typeface="Courier New" panose="02070309020205020404" pitchFamily="49" charset="0"/>
              </a:rPr>
              <a:t>&lt;/a&gt;</a:t>
            </a:r>
          </a:p>
          <a:p>
            <a:r>
              <a:rPr lang="en-US" sz="1313">
                <a:latin typeface="Courier New" panose="02070309020205020404" pitchFamily="49" charset="0"/>
              </a:rPr>
              <a:t>  &lt;br/&gt;</a:t>
            </a:r>
          </a:p>
          <a:p>
            <a:r>
              <a:rPr lang="en-US" sz="1313">
                <a:solidFill>
                  <a:schemeClr val="accent2"/>
                </a:solidFill>
                <a:latin typeface="Courier New" panose="02070309020205020404" pitchFamily="49" charset="0"/>
              </a:rPr>
              <a:t>  &lt;a href="page07.html" target="_blank"&gt;</a:t>
            </a:r>
          </a:p>
          <a:p>
            <a:r>
              <a:rPr lang="en-US" sz="1313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1313">
                <a:solidFill>
                  <a:srgbClr val="009900"/>
                </a:solidFill>
                <a:latin typeface="Courier New" panose="02070309020205020404" pitchFamily="49" charset="0"/>
              </a:rPr>
              <a:t>Open page07 in a new window</a:t>
            </a:r>
            <a:r>
              <a:rPr lang="en-US" sz="1313">
                <a:solidFill>
                  <a:schemeClr val="accent2"/>
                </a:solidFill>
                <a:latin typeface="Courier New" panose="02070309020205020404" pitchFamily="49" charset="0"/>
              </a:rPr>
              <a:t>&lt;/a&gt;</a:t>
            </a:r>
          </a:p>
          <a:p>
            <a:r>
              <a:rPr lang="en-US" sz="1313">
                <a:latin typeface="Courier New" panose="02070309020205020404" pitchFamily="49" charset="0"/>
              </a:rPr>
              <a:t>  &lt;/p&gt;</a:t>
            </a:r>
          </a:p>
          <a:p>
            <a:r>
              <a:rPr lang="en-US" sz="1313">
                <a:latin typeface="Courier New" panose="02070309020205020404" pitchFamily="49" charset="0"/>
              </a:rPr>
              <a:t>&lt;/body&gt;</a:t>
            </a:r>
          </a:p>
          <a:p>
            <a:endParaRPr lang="en-US" sz="1313">
              <a:latin typeface="Courier New" panose="02070309020205020404" pitchFamily="49" charset="0"/>
            </a:endParaRPr>
          </a:p>
          <a:p>
            <a:r>
              <a:rPr lang="en-US" sz="1313">
                <a:latin typeface="Courier New" panose="02070309020205020404" pitchFamily="49" charset="0"/>
              </a:rPr>
              <a:t>&lt;/html&gt;</a:t>
            </a:r>
          </a:p>
        </p:txBody>
      </p:sp>
      <p:sp>
        <p:nvSpPr>
          <p:cNvPr id="38917" name="Text Box 6">
            <a:hlinkClick r:id="rId3"/>
          </p:cNvPr>
          <p:cNvSpPr txBox="1">
            <a:spLocks noChangeArrowheads="1"/>
          </p:cNvSpPr>
          <p:nvPr/>
        </p:nvSpPr>
        <p:spPr bwMode="auto">
          <a:xfrm>
            <a:off x="2738437" y="5357812"/>
            <a:ext cx="2357438" cy="35208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88">
                <a:latin typeface="Arial Narrow" panose="020B0606020202030204" pitchFamily="34" charset="0"/>
              </a:rPr>
              <a:t>view page</a:t>
            </a:r>
          </a:p>
        </p:txBody>
      </p:sp>
    </p:spTree>
    <p:extLst>
      <p:ext uri="{BB962C8B-B14F-4D97-AF65-F5344CB8AC3E}">
        <p14:creationId xmlns:p14="http://schemas.microsoft.com/office/powerpoint/2010/main" val="324126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371853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Hyperlinks (cont.)</a:t>
            </a:r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767340" y="909973"/>
            <a:ext cx="3801070" cy="4857750"/>
          </a:xfrm>
        </p:spPr>
        <p:txBody>
          <a:bodyPr>
            <a:normAutofit fontScale="92500" lnSpcReduction="20000"/>
          </a:bodyPr>
          <a:lstStyle/>
          <a:p>
            <a:pPr marL="0" indent="2977">
              <a:spcBef>
                <a:spcPct val="0"/>
              </a:spcBef>
            </a:pPr>
            <a:r>
              <a:rPr lang="en-US" dirty="0" smtClean="0"/>
              <a:t>for long documents, you can even have links to other locations in that same document</a:t>
            </a:r>
          </a:p>
          <a:p>
            <a:pPr marL="0" indent="2977">
              <a:spcBef>
                <a:spcPct val="0"/>
              </a:spcBef>
            </a:pPr>
            <a:endParaRPr lang="en-US" dirty="0" smtClean="0"/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&lt;</a:t>
            </a:r>
            <a:r>
              <a:rPr lang="en-US" sz="1688" dirty="0" err="1">
                <a:solidFill>
                  <a:srgbClr val="FF0033"/>
                </a:solidFill>
                <a:latin typeface="Courier New" panose="02070309020205020404" pitchFamily="49" charset="0"/>
              </a:rPr>
              <a:t>xxxx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 id="</a:t>
            </a:r>
            <a:r>
              <a:rPr lang="en-US" sz="1688" i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ident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"&gt;…&lt;/</a:t>
            </a:r>
            <a:r>
              <a:rPr lang="en-US" sz="1688" dirty="0" err="1">
                <a:solidFill>
                  <a:srgbClr val="FF0033"/>
                </a:solidFill>
                <a:latin typeface="Courier New" panose="02070309020205020404" pitchFamily="49" charset="0"/>
              </a:rPr>
              <a:t>xxxx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&gt;</a:t>
            </a:r>
            <a:endParaRPr lang="en-US" sz="1688" dirty="0">
              <a:solidFill>
                <a:srgbClr val="FF0033"/>
              </a:solidFill>
            </a:endParaRPr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endParaRPr lang="en-US" sz="1688" dirty="0">
              <a:solidFill>
                <a:srgbClr val="FF0033"/>
              </a:solidFill>
            </a:endParaRP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r>
              <a:rPr lang="en-US" sz="1688" dirty="0"/>
              <a:t>where </a:t>
            </a:r>
            <a:r>
              <a:rPr lang="en-US" sz="1688" dirty="0" err="1">
                <a:solidFill>
                  <a:srgbClr val="009900"/>
                </a:solidFill>
              </a:rPr>
              <a:t>ident</a:t>
            </a:r>
            <a:r>
              <a:rPr lang="en-US" sz="1688" dirty="0"/>
              <a:t> is a variable for identifying this location, where "</a:t>
            </a:r>
            <a:r>
              <a:rPr lang="en-US" sz="1688" dirty="0" err="1"/>
              <a:t>xxxx</a:t>
            </a:r>
            <a:r>
              <a:rPr lang="en-US" sz="1688" dirty="0"/>
              <a:t>" can, in principle, be any HTML element </a:t>
            </a: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endParaRPr lang="en-US" sz="1688" dirty="0"/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r>
              <a:rPr lang="en-US" sz="1688" dirty="0"/>
              <a:t>(this </a:t>
            </a:r>
            <a:r>
              <a:rPr lang="en-GB" sz="1688" dirty="0"/>
              <a:t>is actually an HTML5 language specification, but seems to work in most browsers)</a:t>
            </a:r>
            <a:endParaRPr lang="en-US" sz="1688" dirty="0"/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endParaRPr lang="en-US" sz="1688" i="1" dirty="0"/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endParaRPr lang="en-US" i="1" dirty="0" smtClean="0"/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&lt;a </a:t>
            </a:r>
            <a:r>
              <a:rPr lang="en-US" sz="1688" dirty="0" err="1">
                <a:solidFill>
                  <a:srgbClr val="FF0033"/>
                </a:solidFill>
                <a:latin typeface="Courier New" panose="02070309020205020404" pitchFamily="49" charset="0"/>
              </a:rPr>
              <a:t>href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="#</a:t>
            </a:r>
            <a:r>
              <a:rPr lang="en-US" sz="1688" i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ident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"&gt;…&lt;/a&gt;</a:t>
            </a:r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endParaRPr lang="en-US" sz="1688" dirty="0">
              <a:latin typeface="Courier New" panose="02070309020205020404" pitchFamily="49" charset="0"/>
            </a:endParaRP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r>
              <a:rPr lang="en-US" sz="1688" dirty="0"/>
              <a:t>will then jump to that location within the file  </a:t>
            </a: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endParaRPr lang="en-US" sz="1688" dirty="0"/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endParaRPr lang="en-US" sz="1688" dirty="0"/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&lt;a </a:t>
            </a:r>
            <a:r>
              <a:rPr lang="en-US" sz="1688" dirty="0" err="1">
                <a:solidFill>
                  <a:srgbClr val="FF0033"/>
                </a:solidFill>
                <a:latin typeface="Courier New" panose="02070309020205020404" pitchFamily="49" charset="0"/>
              </a:rPr>
              <a:t>href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="</a:t>
            </a:r>
            <a:r>
              <a:rPr lang="en-US" sz="1688" dirty="0" err="1">
                <a:solidFill>
                  <a:srgbClr val="FF0033"/>
                </a:solidFill>
                <a:latin typeface="Courier New" panose="02070309020205020404" pitchFamily="49" charset="0"/>
              </a:rPr>
              <a:t>URL#</a:t>
            </a:r>
            <a:r>
              <a:rPr lang="en-US" sz="1688" i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ident</a:t>
            </a:r>
            <a:r>
              <a:rPr lang="en-US" sz="1688" dirty="0">
                <a:solidFill>
                  <a:srgbClr val="FF0033"/>
                </a:solidFill>
                <a:latin typeface="Courier New" panose="02070309020205020404" pitchFamily="49" charset="0"/>
              </a:rPr>
              <a:t>"&gt;…&lt;/a&gt;</a:t>
            </a:r>
          </a:p>
          <a:p>
            <a:pPr marL="378023" lvl="1">
              <a:lnSpc>
                <a:spcPct val="70000"/>
              </a:lnSpc>
              <a:spcBef>
                <a:spcPct val="0"/>
              </a:spcBef>
            </a:pPr>
            <a:endParaRPr lang="en-US" sz="1688" dirty="0">
              <a:solidFill>
                <a:srgbClr val="FF0033"/>
              </a:solidFill>
              <a:latin typeface="Courier New" panose="02070309020205020404" pitchFamily="49" charset="0"/>
            </a:endParaRP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r>
              <a:rPr lang="en-US" sz="1688" dirty="0"/>
              <a:t>can jump into the middle of another file just as easily</a:t>
            </a:r>
          </a:p>
          <a:p>
            <a:pPr marL="488156" lvl="2" indent="-2977">
              <a:lnSpc>
                <a:spcPct val="70000"/>
              </a:lnSpc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0964" name="Text Box 1028"/>
          <p:cNvSpPr txBox="1">
            <a:spLocks noChangeArrowheads="1"/>
          </p:cNvSpPr>
          <p:nvPr/>
        </p:nvSpPr>
        <p:spPr bwMode="auto">
          <a:xfrm>
            <a:off x="1426083" y="736979"/>
            <a:ext cx="5042956" cy="615360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sz="1313" dirty="0">
                <a:latin typeface="Courier New" panose="02070309020205020404" pitchFamily="49" charset="0"/>
              </a:rPr>
              <a:t>&lt;html&gt;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&lt;!–- COMP519  page09.html  21.09.12 --&gt;</a:t>
            </a:r>
          </a:p>
          <a:p>
            <a:endParaRPr lang="en-US" sz="1313" dirty="0">
              <a:latin typeface="Courier New" panose="02070309020205020404" pitchFamily="49" charset="0"/>
            </a:endParaRPr>
          </a:p>
          <a:p>
            <a:r>
              <a:rPr lang="en-US" sz="1313" dirty="0">
                <a:latin typeface="Courier New" panose="02070309020205020404" pitchFamily="49" charset="0"/>
              </a:rPr>
              <a:t>&lt;head&gt;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&lt;title&gt;Internal Links in a Page&lt;/title&gt;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&lt;/head&gt;</a:t>
            </a:r>
          </a:p>
          <a:p>
            <a:endParaRPr lang="en-US" sz="1313" dirty="0">
              <a:latin typeface="Courier New" panose="02070309020205020404" pitchFamily="49" charset="0"/>
            </a:endParaRPr>
          </a:p>
          <a:p>
            <a:r>
              <a:rPr lang="en-US" sz="1313" dirty="0">
                <a:latin typeface="Courier New" panose="02070309020205020404" pitchFamily="49" charset="0"/>
              </a:rPr>
              <a:t>&lt;body&gt;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&lt;p&gt;</a:t>
            </a:r>
          </a:p>
          <a:p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  </a:t>
            </a:r>
            <a:r>
              <a:rPr lang="en-US" sz="1313" dirty="0">
                <a:latin typeface="Courier New" panose="02070309020205020404" pitchFamily="49" charset="0"/>
              </a:rPr>
              <a:t>[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 &lt;a </a:t>
            </a:r>
            <a:r>
              <a:rPr lang="en-US" sz="1313" dirty="0" err="1">
                <a:solidFill>
                  <a:srgbClr val="FF0033"/>
                </a:solidFill>
                <a:latin typeface="Courier New" panose="02070309020205020404" pitchFamily="49" charset="0"/>
              </a:rPr>
              <a:t>href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="#</a:t>
            </a:r>
            <a:r>
              <a:rPr lang="en-US" sz="1313" dirty="0">
                <a:solidFill>
                  <a:srgbClr val="009900"/>
                </a:solidFill>
                <a:latin typeface="Courier New" panose="02070309020205020404" pitchFamily="49" charset="0"/>
              </a:rPr>
              <a:t>HTML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"&gt;HTML&lt;/a&gt; </a:t>
            </a:r>
            <a:r>
              <a:rPr lang="en-US" sz="1313" dirty="0">
                <a:latin typeface="Courier New" panose="02070309020205020404" pitchFamily="49" charset="0"/>
              </a:rPr>
              <a:t>|</a:t>
            </a:r>
          </a:p>
          <a:p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    &lt;a </a:t>
            </a:r>
            <a:r>
              <a:rPr lang="en-US" sz="1313" dirty="0" err="1">
                <a:solidFill>
                  <a:srgbClr val="FF0033"/>
                </a:solidFill>
                <a:latin typeface="Courier New" panose="02070309020205020404" pitchFamily="49" charset="0"/>
              </a:rPr>
              <a:t>href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="#</a:t>
            </a:r>
            <a:r>
              <a:rPr lang="en-US" sz="1313" dirty="0">
                <a:solidFill>
                  <a:srgbClr val="009900"/>
                </a:solidFill>
                <a:latin typeface="Courier New" panose="02070309020205020404" pitchFamily="49" charset="0"/>
              </a:rPr>
              <a:t>HTTP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"&gt;HTTP&lt;/a&gt; </a:t>
            </a:r>
            <a:r>
              <a:rPr lang="en-US" sz="1313" dirty="0">
                <a:latin typeface="Courier New" panose="02070309020205020404" pitchFamily="49" charset="0"/>
              </a:rPr>
              <a:t>|</a:t>
            </a:r>
          </a:p>
          <a:p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    &lt;a </a:t>
            </a:r>
            <a:r>
              <a:rPr lang="en-US" sz="1313" dirty="0" err="1">
                <a:solidFill>
                  <a:srgbClr val="FF0033"/>
                </a:solidFill>
                <a:latin typeface="Courier New" panose="02070309020205020404" pitchFamily="49" charset="0"/>
              </a:rPr>
              <a:t>href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="#</a:t>
            </a:r>
            <a:r>
              <a:rPr lang="en-US" sz="1313" dirty="0">
                <a:solidFill>
                  <a:srgbClr val="009900"/>
                </a:solidFill>
                <a:latin typeface="Courier New" panose="02070309020205020404" pitchFamily="49" charset="0"/>
              </a:rPr>
              <a:t>IP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"&gt;IP&lt;/a&gt; </a:t>
            </a:r>
            <a:r>
              <a:rPr lang="en-US" sz="1313" dirty="0">
                <a:latin typeface="Courier New" panose="02070309020205020404" pitchFamily="49" charset="0"/>
              </a:rPr>
              <a:t>|</a:t>
            </a:r>
          </a:p>
          <a:p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    &lt;a </a:t>
            </a:r>
            <a:r>
              <a:rPr lang="en-US" sz="1313" dirty="0" err="1">
                <a:solidFill>
                  <a:srgbClr val="FF0033"/>
                </a:solidFill>
                <a:latin typeface="Courier New" panose="02070309020205020404" pitchFamily="49" charset="0"/>
              </a:rPr>
              <a:t>href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="#</a:t>
            </a:r>
            <a:r>
              <a:rPr lang="en-US" sz="1313" dirty="0">
                <a:solidFill>
                  <a:srgbClr val="009900"/>
                </a:solidFill>
                <a:latin typeface="Courier New" panose="02070309020205020404" pitchFamily="49" charset="0"/>
              </a:rPr>
              <a:t>TCP</a:t>
            </a:r>
            <a:r>
              <a:rPr lang="en-US" sz="1313" dirty="0">
                <a:solidFill>
                  <a:srgbClr val="FF0033"/>
                </a:solidFill>
                <a:latin typeface="Courier New" panose="02070309020205020404" pitchFamily="49" charset="0"/>
              </a:rPr>
              <a:t>"&gt;TCP&lt;/a&gt; </a:t>
            </a:r>
            <a:r>
              <a:rPr lang="en-US" sz="1313" dirty="0">
                <a:latin typeface="Courier New" panose="02070309020205020404" pitchFamily="49" charset="0"/>
              </a:rPr>
              <a:t>]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&lt;/p&gt;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&lt;p&gt;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Computer acronyms: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&lt;dl&gt;</a:t>
            </a:r>
          </a:p>
          <a:p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1313" dirty="0"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latin typeface="Courier New" panose="02070309020205020404" pitchFamily="49" charset="0"/>
              </a:rPr>
              <a:t>dt</a:t>
            </a:r>
            <a:r>
              <a:rPr lang="en-US" sz="1313" dirty="0">
                <a:latin typeface="Courier New" panose="02070309020205020404" pitchFamily="49" charset="0"/>
              </a:rPr>
              <a:t>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id="</a:t>
            </a:r>
            <a:r>
              <a:rPr lang="en-US" sz="1313" dirty="0">
                <a:solidFill>
                  <a:srgbClr val="009900"/>
                </a:solidFill>
                <a:latin typeface="Courier New" panose="02070309020205020404" pitchFamily="49" charset="0"/>
              </a:rPr>
              <a:t>HTML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"</a:t>
            </a:r>
            <a:r>
              <a:rPr lang="en-US" sz="1313" dirty="0">
                <a:latin typeface="Courier New" panose="02070309020205020404" pitchFamily="49" charset="0"/>
              </a:rPr>
              <a:t>&gt;HTML&lt;/</a:t>
            </a:r>
            <a:r>
              <a:rPr lang="en-US" sz="1313" dirty="0" err="1">
                <a:latin typeface="Courier New" panose="02070309020205020404" pitchFamily="49" charset="0"/>
              </a:rPr>
              <a:t>dt</a:t>
            </a:r>
            <a:r>
              <a:rPr lang="en-US" sz="1313" dirty="0"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 &lt;</a:t>
            </a:r>
            <a:r>
              <a:rPr lang="en-US" sz="1313" dirty="0" err="1">
                <a:latin typeface="Courier New" panose="02070309020205020404" pitchFamily="49" charset="0"/>
              </a:rPr>
              <a:t>dd</a:t>
            </a:r>
            <a:r>
              <a:rPr lang="en-US" sz="1313" dirty="0">
                <a:latin typeface="Courier New" panose="02070309020205020404" pitchFamily="49" charset="0"/>
              </a:rPr>
              <a:t>&gt;</a:t>
            </a:r>
            <a:r>
              <a:rPr lang="en-US" sz="1313" dirty="0" err="1">
                <a:latin typeface="Courier New" panose="02070309020205020404" pitchFamily="49" charset="0"/>
              </a:rPr>
              <a:t>HyperText</a:t>
            </a:r>
            <a:r>
              <a:rPr lang="en-US" sz="1313" dirty="0">
                <a:latin typeface="Courier New" panose="02070309020205020404" pitchFamily="49" charset="0"/>
              </a:rPr>
              <a:t> Markup Language</a:t>
            </a:r>
          </a:p>
          <a:p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1313" dirty="0"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latin typeface="Courier New" panose="02070309020205020404" pitchFamily="49" charset="0"/>
              </a:rPr>
              <a:t>dt</a:t>
            </a:r>
            <a:r>
              <a:rPr lang="en-US" sz="1313" dirty="0">
                <a:latin typeface="Courier New" panose="02070309020205020404" pitchFamily="49" charset="0"/>
              </a:rPr>
              <a:t>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id="</a:t>
            </a:r>
            <a:r>
              <a:rPr lang="en-US" sz="1313" dirty="0">
                <a:solidFill>
                  <a:srgbClr val="009900"/>
                </a:solidFill>
                <a:latin typeface="Courier New" panose="02070309020205020404" pitchFamily="49" charset="0"/>
              </a:rPr>
              <a:t>HTTP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"</a:t>
            </a:r>
            <a:r>
              <a:rPr lang="en-US" sz="1313" dirty="0">
                <a:latin typeface="Courier New" panose="02070309020205020404" pitchFamily="49" charset="0"/>
              </a:rPr>
              <a:t>&gt;HTTP&lt;/</a:t>
            </a:r>
            <a:r>
              <a:rPr lang="en-US" sz="1313" dirty="0" err="1">
                <a:latin typeface="Courier New" panose="02070309020205020404" pitchFamily="49" charset="0"/>
              </a:rPr>
              <a:t>dt</a:t>
            </a:r>
            <a:r>
              <a:rPr lang="en-US" sz="1313" dirty="0"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 &lt;</a:t>
            </a:r>
            <a:r>
              <a:rPr lang="en-US" sz="1313" dirty="0" err="1">
                <a:latin typeface="Courier New" panose="02070309020205020404" pitchFamily="49" charset="0"/>
              </a:rPr>
              <a:t>dd</a:t>
            </a:r>
            <a:r>
              <a:rPr lang="en-US" sz="1313" dirty="0">
                <a:latin typeface="Courier New" panose="02070309020205020404" pitchFamily="49" charset="0"/>
              </a:rPr>
              <a:t>&gt;</a:t>
            </a:r>
            <a:r>
              <a:rPr lang="en-US" sz="1313" dirty="0" err="1">
                <a:latin typeface="Courier New" panose="02070309020205020404" pitchFamily="49" charset="0"/>
              </a:rPr>
              <a:t>HyperText</a:t>
            </a:r>
            <a:r>
              <a:rPr lang="en-US" sz="1313" dirty="0">
                <a:latin typeface="Courier New" panose="02070309020205020404" pitchFamily="49" charset="0"/>
              </a:rPr>
              <a:t> Transfer Protocol…&lt;/</a:t>
            </a:r>
            <a:r>
              <a:rPr lang="en-US" sz="1313" dirty="0" err="1">
                <a:latin typeface="Courier New" panose="02070309020205020404" pitchFamily="49" charset="0"/>
              </a:rPr>
              <a:t>dd</a:t>
            </a:r>
            <a:r>
              <a:rPr lang="en-US" sz="1313" dirty="0"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1313" dirty="0"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latin typeface="Courier New" panose="02070309020205020404" pitchFamily="49" charset="0"/>
              </a:rPr>
              <a:t>dt</a:t>
            </a:r>
            <a:r>
              <a:rPr lang="en-US" sz="1313" dirty="0">
                <a:latin typeface="Courier New" panose="02070309020205020404" pitchFamily="49" charset="0"/>
              </a:rPr>
              <a:t>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id="</a:t>
            </a:r>
            <a:r>
              <a:rPr lang="en-US" sz="1313" dirty="0">
                <a:solidFill>
                  <a:srgbClr val="009900"/>
                </a:solidFill>
                <a:latin typeface="Courier New" panose="02070309020205020404" pitchFamily="49" charset="0"/>
              </a:rPr>
              <a:t>IP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"</a:t>
            </a:r>
            <a:r>
              <a:rPr lang="en-US" sz="1313" dirty="0">
                <a:latin typeface="Courier New" panose="02070309020205020404" pitchFamily="49" charset="0"/>
              </a:rPr>
              <a:t>&gt;IP&lt;/</a:t>
            </a:r>
            <a:r>
              <a:rPr lang="en-US" sz="1313" dirty="0" err="1">
                <a:latin typeface="Courier New" panose="02070309020205020404" pitchFamily="49" charset="0"/>
              </a:rPr>
              <a:t>dt</a:t>
            </a:r>
            <a:r>
              <a:rPr lang="en-US" sz="1313" dirty="0"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 &lt;</a:t>
            </a:r>
            <a:r>
              <a:rPr lang="en-US" sz="1313" dirty="0" err="1">
                <a:latin typeface="Courier New" panose="02070309020205020404" pitchFamily="49" charset="0"/>
              </a:rPr>
              <a:t>dd</a:t>
            </a:r>
            <a:r>
              <a:rPr lang="en-US" sz="1313" dirty="0">
                <a:latin typeface="Courier New" panose="02070309020205020404" pitchFamily="49" charset="0"/>
              </a:rPr>
              <a:t>&gt;Internet Protocol…&lt;/</a:t>
            </a:r>
            <a:r>
              <a:rPr lang="en-US" sz="1313" dirty="0" err="1">
                <a:latin typeface="Courier New" panose="02070309020205020404" pitchFamily="49" charset="0"/>
              </a:rPr>
              <a:t>dd</a:t>
            </a:r>
            <a:r>
              <a:rPr lang="en-US" sz="1313" dirty="0"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1313" dirty="0">
                <a:latin typeface="Courier New" panose="02070309020205020404" pitchFamily="49" charset="0"/>
              </a:rPr>
              <a:t>&lt;</a:t>
            </a:r>
            <a:r>
              <a:rPr lang="en-US" sz="1313" dirty="0" err="1">
                <a:latin typeface="Courier New" panose="02070309020205020404" pitchFamily="49" charset="0"/>
              </a:rPr>
              <a:t>dt</a:t>
            </a:r>
            <a:r>
              <a:rPr lang="en-US" sz="1313" dirty="0">
                <a:latin typeface="Courier New" panose="02070309020205020404" pitchFamily="49" charset="0"/>
              </a:rPr>
              <a:t> 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id="</a:t>
            </a:r>
            <a:r>
              <a:rPr lang="en-US" sz="1313" dirty="0">
                <a:solidFill>
                  <a:srgbClr val="009900"/>
                </a:solidFill>
                <a:latin typeface="Courier New" panose="02070309020205020404" pitchFamily="49" charset="0"/>
              </a:rPr>
              <a:t>TCP</a:t>
            </a:r>
            <a:r>
              <a:rPr lang="en-US" sz="1313" dirty="0">
                <a:solidFill>
                  <a:schemeClr val="accent2"/>
                </a:solidFill>
                <a:latin typeface="Courier New" panose="02070309020205020404" pitchFamily="49" charset="0"/>
              </a:rPr>
              <a:t>"</a:t>
            </a:r>
            <a:r>
              <a:rPr lang="en-US" sz="1313" dirty="0">
                <a:latin typeface="Courier New" panose="02070309020205020404" pitchFamily="49" charset="0"/>
              </a:rPr>
              <a:t>&gt;TCP&lt;/</a:t>
            </a:r>
            <a:r>
              <a:rPr lang="en-US" sz="1313" dirty="0" err="1">
                <a:latin typeface="Courier New" panose="02070309020205020404" pitchFamily="49" charset="0"/>
              </a:rPr>
              <a:t>dt</a:t>
            </a:r>
            <a:r>
              <a:rPr lang="en-US" sz="1313" dirty="0"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 &lt;</a:t>
            </a:r>
            <a:r>
              <a:rPr lang="en-US" sz="1313" dirty="0" err="1">
                <a:latin typeface="Courier New" panose="02070309020205020404" pitchFamily="49" charset="0"/>
              </a:rPr>
              <a:t>dd</a:t>
            </a:r>
            <a:r>
              <a:rPr lang="en-US" sz="1313" dirty="0">
                <a:latin typeface="Courier New" panose="02070309020205020404" pitchFamily="49" charset="0"/>
              </a:rPr>
              <a:t>&gt;Transfer Control Protocol…&lt;/</a:t>
            </a:r>
            <a:r>
              <a:rPr lang="en-US" sz="1313" dirty="0" err="1">
                <a:latin typeface="Courier New" panose="02070309020205020404" pitchFamily="49" charset="0"/>
              </a:rPr>
              <a:t>dd</a:t>
            </a:r>
            <a:r>
              <a:rPr lang="en-US" sz="1313" dirty="0">
                <a:latin typeface="Courier New" panose="02070309020205020404" pitchFamily="49" charset="0"/>
              </a:rPr>
              <a:t>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&lt;/dl&gt;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  &lt;/p</a:t>
            </a:r>
            <a:r>
              <a:rPr lang="en-US" sz="1313" dirty="0" smtClean="0">
                <a:latin typeface="Courier New" panose="02070309020205020404" pitchFamily="49" charset="0"/>
              </a:rPr>
              <a:t>&gt;</a:t>
            </a:r>
            <a:endParaRPr lang="en-US" sz="1313" dirty="0">
              <a:latin typeface="Courier New" panose="02070309020205020404" pitchFamily="49" charset="0"/>
            </a:endParaRPr>
          </a:p>
          <a:p>
            <a:r>
              <a:rPr lang="en-US" sz="1313" dirty="0">
                <a:latin typeface="Courier New" panose="02070309020205020404" pitchFamily="49" charset="0"/>
              </a:rPr>
              <a:t>&lt;/body&gt;</a:t>
            </a:r>
          </a:p>
          <a:p>
            <a:r>
              <a:rPr lang="en-US" sz="1313" dirty="0">
                <a:latin typeface="Courier New" panose="02070309020205020404" pitchFamily="49" charset="0"/>
              </a:rPr>
              <a:t>&lt;/html&gt;</a:t>
            </a:r>
          </a:p>
        </p:txBody>
      </p:sp>
      <p:sp>
        <p:nvSpPr>
          <p:cNvPr id="40965" name="Text Box 1030">
            <a:hlinkClick r:id="rId3"/>
          </p:cNvPr>
          <p:cNvSpPr txBox="1">
            <a:spLocks noChangeArrowheads="1"/>
          </p:cNvSpPr>
          <p:nvPr/>
        </p:nvSpPr>
        <p:spPr bwMode="auto">
          <a:xfrm>
            <a:off x="7310437" y="6186786"/>
            <a:ext cx="2357438" cy="35208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88">
                <a:latin typeface="Arial Narrow" panose="020B0606020202030204" pitchFamily="34" charset="0"/>
              </a:rPr>
              <a:t>view page</a:t>
            </a:r>
          </a:p>
        </p:txBody>
      </p:sp>
    </p:spTree>
    <p:extLst>
      <p:ext uri="{BB962C8B-B14F-4D97-AF65-F5344CB8AC3E}">
        <p14:creationId xmlns:p14="http://schemas.microsoft.com/office/powerpoint/2010/main" val="214850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1542</Words>
  <Application>Microsoft Office PowerPoint</Application>
  <PresentationFormat>Custom</PresentationFormat>
  <Paragraphs>365</Paragraphs>
  <Slides>27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HTML Lists</vt:lpstr>
      <vt:lpstr>Unordered list:</vt:lpstr>
      <vt:lpstr>To represent different ordered lists, there are 4 types of attributes in &lt;ul&gt; tag.</vt:lpstr>
      <vt:lpstr>HTML Unordered List Example:</vt:lpstr>
      <vt:lpstr>ul type="circle"</vt:lpstr>
      <vt:lpstr>ul type="square"</vt:lpstr>
      <vt:lpstr>ul type="none"</vt:lpstr>
      <vt:lpstr>Ordered list:</vt:lpstr>
      <vt:lpstr>To represent different ordered lists, there are 5 types of attributes in &lt;ol&gt; tag.</vt:lpstr>
      <vt:lpstr>HTML Ordered List Example </vt:lpstr>
      <vt:lpstr>ol type="I" </vt:lpstr>
      <vt:lpstr>ol type="i"</vt:lpstr>
      <vt:lpstr>ol type="A"</vt:lpstr>
      <vt:lpstr>ol type="a"</vt:lpstr>
      <vt:lpstr>start attribute:</vt:lpstr>
      <vt:lpstr>Example:</vt:lpstr>
      <vt:lpstr>HTML Description List or Definition List</vt:lpstr>
      <vt:lpstr>Example</vt:lpstr>
      <vt:lpstr>Output:</vt:lpstr>
      <vt:lpstr>Hyperlinks (Anchor Tag):</vt:lpstr>
      <vt:lpstr>Hyperlinks:</vt:lpstr>
      <vt:lpstr>Hyperlinks:</vt:lpstr>
      <vt:lpstr>Targeted Links</vt:lpstr>
      <vt:lpstr>Email Link:</vt:lpstr>
      <vt:lpstr>Lists</vt:lpstr>
      <vt:lpstr>Hyperlinks</vt:lpstr>
      <vt:lpstr>Hyperlinks (cont.)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mragank</dc:creator>
  <cp:lastModifiedBy>Windows User</cp:lastModifiedBy>
  <cp:revision>32</cp:revision>
  <dcterms:created xsi:type="dcterms:W3CDTF">2015-06-30T04:09:05Z</dcterms:created>
  <dcterms:modified xsi:type="dcterms:W3CDTF">2020-09-21T22:17:14Z</dcterms:modified>
</cp:coreProperties>
</file>